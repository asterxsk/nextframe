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1695" cy="6858000"/>
  <p:notesSz cx="6858000" cy="9144000"/>
  <p:defaultText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heme" Target="theme/theme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98F326-38F9-40E9-844A-EC66DA56CEC0}" type="datetimeFigureOut">
              <a:rPr lang="en-US"/>
              <a:t>10/17/16</a:t>
            </a:fld>
            <a:endParaRPr lang="en-US"/>
          </a:p>
        </p:txBody>
      </p:sp>
      <p:sp>
        <p:nvSpPr>
          <p:cNvPr id="4" name="Slide Image Placeholder 3"/>
          <p:cNvSpPr>
            <a:spLocks noGrp="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4DB33E-DF1A-4DDD-8617-8BEBD58B3BBA}"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Open on the claim, not the agenda. Everything on the next twelve slides is one graph, seven topics from the syllabus, and arithmetic that the app repeats live. Four presenters, three slides 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Start with the object. A rating at or above 3.5 is a like, and a like is an edge between a viewer and a title — that is a bipartite graph. We then project it onto the titles so the graph-theory topics have something to count. The projection is what every later slide operates on. Point out the cut-offs: they are the only editorial decisions in the build.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distinction that matters for the rest of the talk. Audience size is how many people liked a title; similarity degree is how many titles sit next to it in the projected graph. Audience size is what the popularity term in the score reads. Similarity degree is what the topics — components, paths, colouring — count. The distribution is heavy-tailed but almost flat at the bottom because k = 8 is a floor: every title keeps eight edges.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Union-find over the edges gives one component holding every title. Nothing is stranded, which is the precondition for the rest of the work: a path exists from any title to any other. No articulation point and no bridge means no single title holds the catalogue together — remove any one and it stays connected. The bottom bar is viewer 498's own breadth-first reach.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A path here is not an abstraction — it is the witness. Viewer, co-liker, anchor, candidate: three edges, alternating between the viewer and title parts of the original bipartite graph. The co-liker is the proof that the candidate belongs in this neighbourhood; the anchor is the title the two viewers most agree on. Count the paths and you get the support term in the score.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Every path closes into a cycle, and a cycle means agreement already banked. If a title's whole audience is already inside the viewer's one-hop set, then recommending it tells the viewer nothing. E is the fraction of the candidate's audience that the viewer's co-likers already cover. The Matrix is the extreme case: 225 of 239. The novelty term inverts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arithmetic the app shows on screen, line by line. Support is logarithmic because the cycle count is heavy-tailed — 1,124 versus a handful. Popularity is damped by 0.35 so a blockbuster cannot win on audience alone. Novelty divides echo out. The Matrix ranks first of 1,416 candidates while sitting third on popularity, which is the damping working.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Build the genre graph: two genres are adjacent when a title carries both, and the edge is the title itself — so it is a multigraph, 1,212 parallel edges over 19 vertices. Euler's condition is connected plus every degree even. Ten vertices are odd, so an Eulerian circuit does not exist. The next slide repairs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the route-inspection repair. Pair the odd vertices greedily by shortest distance in the underlying simple genre graph — five pairs — and duplicate every edge along each connecting path. Parity flips at both ends and along the interior of each path, so every degree becomes even and the circuit exists. Nine edges added, 1,212 to 1,221, and Hierholzer's stack returns the traversal.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Different question: visit every vertex exactly once, not every edge. The ten candidates from the previous score become the vertices, and the weight between two of them is their Jaccard similarity. Held–Karp is exact and runs in n²·2ⁿ — 10,240 states here — which is why the list is ten long and not a hundred. Greedy nearest-neighbour loses 3%: worth showing, because it is the argument for the exact method.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Now the genre graph loses its multiplicities and keeps an edge when two genres co-occur in at least six titles. That leaves 19 vertices and 98 edges. For any planar graph with three or more vertices, e ≤ 3v − 6 = 51. 98 is nearly double the ceiling, so no drawing can avoid crossings — that is a counting argument, no drawing required. Kuratowski confirms it structurally: there is a K5 sitting inside.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Keep the heaviest edges in descending co-occurrence order and discard any edge that breaks planarity. That leaves 47 of 98 — 51 dropped. Tutte's barycentric method: fix the outer face on a circle, put every interior vertex at the average of its neighbours, iterate. The interior crowds by construction; that is the theorem's output, not a layout bug. Euler's formula checks out at 30 faces. DSATUR needs four colours, and a K4 sits inside, so four is optimal.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last colouring is the one the viewer actually sees. Build a conflict graph on the top ten: two titles are adjacent when they share a genre. DSATUR — highest saturation degree first — needs seven colours, and there is a K7 in the graph, so seven is optimal, not just what the heuristic found. A proper colouring means the list can be ordered so that similar titles never sit next to each other. That is the whole point: variety.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Close by making the shape visible: each topic answered a different question about the same object, and each answer is a number the app can show. Then be honest about the limits — the sample, the three-hop window, the 2018 cut-off. The project is stronger for naming them than for hiding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CF395B21-E8EE-4505-87E0-7B7F2C3DBBD0}"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DC6D5D-A00E-4AA9-84F2-364CBECE0EEA}"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05E609E6-1126-4CCC-8F95-892B304C12E9}"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D0F9E-EF7E-4C26-8662-25A73F2263D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10"/>
          </p:nvPr>
        </p:nvSpPr>
        <p:spPr/>
        <p:txBody>
          <a:bodyPr/>
          <a:lstStyle/>
          <a:p>
            <a:fld id="{B43082BF-5467-4883-8896-824F7369BC9A}"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C18080-B33E-4073-8615-72D8F5AE8F78}"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Date Placeholder 4"/>
          <p:cNvSpPr>
            <a:spLocks noGrp="1"/>
          </p:cNvSpPr>
          <p:nvPr>
            <p:ph type="dt" sz="half" idx="10"/>
          </p:nvPr>
        </p:nvSpPr>
        <p:spPr/>
        <p:txBody>
          <a:bodyPr/>
          <a:lstStyle/>
          <a:p>
            <a:fld id="{A3A66248-C912-41CA-84D9-08E1C7982093}"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B9569-04AF-4288-8880-64CE52ABE7A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7" name="Date Placeholder 6"/>
          <p:cNvSpPr>
            <a:spLocks noGrp="1"/>
          </p:cNvSpPr>
          <p:nvPr>
            <p:ph type="dt" sz="half" idx="10"/>
          </p:nvPr>
        </p:nvSpPr>
        <p:spPr/>
        <p:txBody>
          <a:bodyPr/>
          <a:lstStyle/>
          <a:p>
            <a:fld id="{54EFB636-F4D9-4299-85F9-44D23E27C49C}" type="datetimeFigureOut">
              <a:rPr lang="en-US"/>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533E07-937E-4FED-8300-891295843456}"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5CAC346-E4DF-45C0-848B-E2AC5513E0D5}" type="datetimeFigureOut">
              <a:rPr lang="en-US"/>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28B55B-FA15-48BA-860D-0231187503D9}"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0B29E-DC2A-4D67-887F-3BE2DC8489D6}" type="datetimeFigureOut">
              <a:rPr lang="en-US"/>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E0EBC0-ADA9-4FA7-889C-9287646BC79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AFC563BD-7186-488E-816C-8F41FA24179F}"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25AB8-FB3A-479C-8780-0B7E5F586C0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10"/>
          </p:nvPr>
        </p:nvSpPr>
        <p:spPr/>
        <p:txBody>
          <a:bodyPr/>
          <a:lstStyle/>
          <a:p>
            <a:fld id="{1EE02C48-70E8-4C8D-81F4-17FB598144B8}" type="datetimeFigureOut">
              <a:rPr lang="en-US"/>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EFC29A-6C4F-4141-86E3-1A3E2D58E3A2}"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27602B83-4DFE-444B-8222-D5FF1EA6B44C}"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19C649-D3E0-46CB-87C1-67136E4226A6}"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10"/>
          </p:nvPr>
        </p:nvSpPr>
        <p:spPr/>
        <p:txBody>
          <a:bodyPr/>
          <a:lstStyle/>
          <a:p>
            <a:fld id="{A6FA40F9-1701-4EB4-806D-4ED861E7A003}" type="datetimeFigureOut">
              <a:rPr lang="en-US"/>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EBE78A-EB3E-401E-81B5-D7F53201DAF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Theme">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DADCF-DC63-475D-8D69-AEBF4EDF3BBC}" type="datetimeFigureOut">
              <a:rPr lang="en-US"/>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D6AB1-0FDA-49F1-8390-8828CE9E6676}"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3" name="TextBox 2"/>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 / 14</a:t>
            </a:r>
          </a:p>
        </p:txBody>
      </p:sp>
      <p:cxnSp>
        <p:nvCxnSpPr>
          <p:cNvPr id="4" name="Connector 3"/>
          <p:cNvCxnSpPr/>
          <p:nvPr/>
        </p:nvCxnSpPr>
        <p:spPr>
          <a:xfrm flipV="1">
            <a:off x="8668512" y="3319272"/>
            <a:ext cx="1170432" cy="1170432"/>
          </a:xfrm>
          <a:prstGeom prst="line">
            <a:avLst/>
          </a:prstGeom>
          <a:ln w="57150">
            <a:solidFill>
              <a:srgbClr val="46515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838944" y="2148840"/>
            <a:ext cx="1170432" cy="1170432"/>
          </a:xfrm>
          <a:prstGeom prst="line">
            <a:avLst/>
          </a:prstGeom>
          <a:ln w="57150">
            <a:solidFill>
              <a:srgbClr val="46515E"/>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366760" y="4187952"/>
            <a:ext cx="603504" cy="603504"/>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37192" y="3017520"/>
            <a:ext cx="603504" cy="603504"/>
          </a:xfrm>
          <a:prstGeom prst="rect">
            <a:avLst/>
          </a:prstGeom>
          <a:solidFill>
            <a:srgbClr val="8FB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707624" y="1847088"/>
            <a:ext cx="603504" cy="603504"/>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859536"/>
            <a:ext cx="7315200" cy="274320"/>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7B8494"/>
                </a:solidFill>
                <a:latin typeface="IBM Plex Serif"/>
              </a:rPr>
              <a:t>Discrete mathematics · semester project</a:t>
            </a:r>
          </a:p>
        </p:txBody>
      </p:sp>
      <p:sp>
        <p:nvSpPr>
          <p:cNvPr id="10" name="TextBox 9"/>
          <p:cNvSpPr txBox="1"/>
          <p:nvPr/>
        </p:nvSpPr>
        <p:spPr>
          <a:xfrm>
            <a:off x="777240" y="1133856"/>
            <a:ext cx="8229600" cy="914400"/>
          </a:xfrm>
          <a:prstGeom prst="rect">
            <a:avLst/>
          </a:prstGeom>
          <a:noFill/>
        </p:spPr>
        <p:txBody>
          <a:bodyPr wrap="square" lIns="0" tIns="0" rIns="0" bIns="0" anchor="t">
            <a:spAutoFit/>
          </a:bodyPr>
          <a:lstStyle/>
          <a:p>
            <a:pPr algn="l">
              <a:lnSpc>
                <a:spcPct val="125000"/>
              </a:lnSpc>
              <a:spcBef>
                <a:spcPts val="0"/>
              </a:spcBef>
              <a:spcAft>
                <a:spcPts val="0"/>
              </a:spcAft>
            </a:pPr>
            <a:r>
              <a:rPr sz="6400" b="0" i="0">
                <a:solidFill>
                  <a:srgbClr val="E1E3E7"/>
                </a:solidFill>
                <a:latin typeface="IBM Plex Serif"/>
              </a:rPr>
              <a:t>NextFrame</a:t>
            </a:r>
          </a:p>
        </p:txBody>
      </p:sp>
      <p:sp>
        <p:nvSpPr>
          <p:cNvPr id="11" name="TextBox 10"/>
          <p:cNvSpPr txBox="1"/>
          <p:nvPr/>
        </p:nvSpPr>
        <p:spPr>
          <a:xfrm>
            <a:off x="777240" y="2157984"/>
            <a:ext cx="7498079" cy="1097280"/>
          </a:xfrm>
          <a:prstGeom prst="rect">
            <a:avLst/>
          </a:prstGeom>
          <a:noFill/>
        </p:spPr>
        <p:txBody>
          <a:bodyPr wrap="square" lIns="0" tIns="0" rIns="0" bIns="0" anchor="t">
            <a:spAutoFit/>
          </a:bodyPr>
          <a:lstStyle/>
          <a:p>
            <a:pPr algn="l">
              <a:lnSpc>
                <a:spcPct val="125000"/>
              </a:lnSpc>
              <a:spcBef>
                <a:spcPts val="0"/>
              </a:spcBef>
              <a:spcAft>
                <a:spcPts val="0"/>
              </a:spcAft>
            </a:pPr>
            <a:r>
              <a:rPr sz="2500" b="0" i="0">
                <a:solidFill>
                  <a:srgbClr val="B2B9C6"/>
                </a:solidFill>
                <a:latin typeface="IBM Plex Serif"/>
              </a:rPr>
              <a:t>Graph theory in streaming recommendations</a:t>
            </a:r>
          </a:p>
        </p:txBody>
      </p:sp>
      <p:cxnSp>
        <p:nvCxnSpPr>
          <p:cNvPr id="12" name="Connector 11"/>
          <p:cNvCxnSpPr/>
          <p:nvPr/>
        </p:nvCxnSpPr>
        <p:spPr>
          <a:xfrm>
            <a:off x="777240" y="3310128"/>
            <a:ext cx="4023360"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3529584"/>
            <a:ext cx="7315200" cy="1463040"/>
          </a:xfrm>
          <a:prstGeom prst="rect">
            <a:avLst/>
          </a:prstGeom>
          <a:noFill/>
        </p:spPr>
        <p:txBody>
          <a:bodyPr wrap="square" lIns="0" tIns="0" rIns="0" bIns="0" anchor="t">
            <a:spAutoFit/>
          </a:bodyPr>
          <a:lstStyle/>
          <a:p>
            <a:pPr algn="l">
              <a:lnSpc>
                <a:spcPct val="125000"/>
              </a:lnSpc>
              <a:spcBef>
                <a:spcPts val="0"/>
              </a:spcBef>
              <a:spcAft>
                <a:spcPts val="0"/>
              </a:spcAft>
            </a:pPr>
            <a:r>
              <a:rPr sz="1350" b="0" i="0">
                <a:solidFill>
                  <a:srgbClr val="B2B9C6"/>
                </a:solidFill>
                <a:latin typeface="IBM Plex Sans"/>
              </a:rPr>
              <a:t>A recommendation engine built as a graph problem over the MovieLens archive: 1,437 titles, 8,498 weighted edges, and every score on screen traceable to a path that produced it.</a:t>
            </a:r>
          </a:p>
        </p:txBody>
      </p:sp>
      <p:sp>
        <p:nvSpPr>
          <p:cNvPr id="14" name="TextBox 13"/>
          <p:cNvSpPr txBox="1"/>
          <p:nvPr/>
        </p:nvSpPr>
        <p:spPr>
          <a:xfrm>
            <a:off x="777240" y="5358384"/>
            <a:ext cx="5669280" cy="1097280"/>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Sans"/>
              </a:rPr>
              <a:t>Semester VII · Division B · Batch B2</a:t>
            </a:r>
          </a:p>
          <a:p>
            <a:pPr algn="l">
              <a:lnSpc>
                <a:spcPct val="125000"/>
              </a:lnSpc>
              <a:spcBef>
                <a:spcPts val="900"/>
              </a:spcBef>
              <a:spcAft>
                <a:spcPts val="0"/>
              </a:spcAft>
            </a:pPr>
            <a:r>
              <a:rPr sz="1200" b="0" i="0">
                <a:solidFill>
                  <a:srgbClr val="B2B9C6"/>
                </a:solidFill>
                <a:latin typeface="IBM Plex Mono"/>
              </a:rPr>
              <a:t>C039   ·   C043   ·   C044   ·   C046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Graph construction · C039</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One graph, built from 100,836 ratings</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2 / 14</a:t>
            </a:r>
          </a:p>
        </p:txBody>
      </p:sp>
      <p:sp>
        <p:nvSpPr>
          <p:cNvPr id="7" name="TextBox 6"/>
          <p:cNvSpPr txBox="1"/>
          <p:nvPr/>
        </p:nvSpPr>
        <p:spPr>
          <a:xfrm>
            <a:off x="777240" y="1645920"/>
            <a:ext cx="443484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A rating of 3.5 or more is an edge between a viewer and a title. Two cut-offs keep the graph readable: a title needs ten likes to enter the catalogue, a viewer needs eight catalogue likes to receive a list.</a:t>
            </a:r>
          </a:p>
        </p:txBody>
      </p:sp>
      <p:sp>
        <p:nvSpPr>
          <p:cNvPr id="8" name="Rectangle 7"/>
          <p:cNvSpPr/>
          <p:nvPr/>
        </p:nvSpPr>
        <p:spPr>
          <a:xfrm>
            <a:off x="932688" y="3163824"/>
            <a:ext cx="173736" cy="173736"/>
          </a:xfrm>
          <a:prstGeom prst="rect">
            <a:avLst/>
          </a:prstGeom>
          <a:solidFill>
            <a:srgbClr val="7B8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 y="3877056"/>
            <a:ext cx="173736" cy="173736"/>
          </a:xfrm>
          <a:prstGeom prst="rect">
            <a:avLst/>
          </a:prstGeom>
          <a:solidFill>
            <a:srgbClr val="7B8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 y="4590288"/>
            <a:ext cx="173736" cy="173736"/>
          </a:xfrm>
          <a:prstGeom prst="rect">
            <a:avLst/>
          </a:prstGeom>
          <a:solidFill>
            <a:srgbClr val="7B8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21408" y="2852928"/>
            <a:ext cx="173736" cy="173736"/>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21408" y="3438144"/>
            <a:ext cx="173736" cy="173736"/>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21408" y="4023360"/>
            <a:ext cx="173736" cy="173736"/>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21408" y="4608576"/>
            <a:ext cx="173736" cy="173736"/>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1106424" y="2939796"/>
            <a:ext cx="1014984" cy="310896"/>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06424" y="3250692"/>
            <a:ext cx="1014984" cy="274320"/>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6424" y="3250692"/>
            <a:ext cx="1014984" cy="859536"/>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106424" y="3525012"/>
            <a:ext cx="1014984" cy="438912"/>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06424" y="3963924"/>
            <a:ext cx="1014984" cy="146304"/>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06424" y="3963924"/>
            <a:ext cx="1014984" cy="731520"/>
          </a:xfrm>
          <a:prstGeom prst="line">
            <a:avLst/>
          </a:prstGeom>
          <a:ln w="10160">
            <a:solidFill>
              <a:srgbClr val="39414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14400" y="4846320"/>
            <a:ext cx="219456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bipartite  viewer — title</a:t>
            </a:r>
          </a:p>
        </p:txBody>
      </p:sp>
      <p:cxnSp>
        <p:nvCxnSpPr>
          <p:cNvPr id="22" name="Connector 21"/>
          <p:cNvCxnSpPr/>
          <p:nvPr/>
        </p:nvCxnSpPr>
        <p:spPr>
          <a:xfrm>
            <a:off x="3163824" y="3675887"/>
            <a:ext cx="420624" cy="0"/>
          </a:xfrm>
          <a:prstGeom prst="line">
            <a:avLst/>
          </a:prstGeom>
          <a:ln w="11430">
            <a:solidFill>
              <a:srgbClr val="5D647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90672" y="3877056"/>
            <a:ext cx="822960" cy="274320"/>
          </a:xfrm>
          <a:prstGeom prst="rect">
            <a:avLst/>
          </a:prstGeom>
          <a:noFill/>
        </p:spPr>
        <p:txBody>
          <a:bodyPr wrap="square" lIns="0" tIns="0" rIns="0" bIns="0" anchor="t">
            <a:spAutoFit/>
          </a:bodyPr>
          <a:lstStyle/>
          <a:p>
            <a:pPr algn="l">
              <a:lnSpc>
                <a:spcPct val="125000"/>
              </a:lnSpc>
              <a:spcBef>
                <a:spcPts val="0"/>
              </a:spcBef>
              <a:spcAft>
                <a:spcPts val="0"/>
              </a:spcAft>
            </a:pPr>
            <a:r>
              <a:rPr sz="900" b="0" i="1">
                <a:solidFill>
                  <a:srgbClr val="5D6470"/>
                </a:solidFill>
                <a:latin typeface="IBM Plex Serif"/>
              </a:rPr>
              <a:t>project</a:t>
            </a:r>
          </a:p>
        </p:txBody>
      </p:sp>
      <p:cxnSp>
        <p:nvCxnSpPr>
          <p:cNvPr id="24" name="Connector 23"/>
          <p:cNvCxnSpPr/>
          <p:nvPr/>
        </p:nvCxnSpPr>
        <p:spPr>
          <a:xfrm flipH="1">
            <a:off x="4023360" y="3163824"/>
            <a:ext cx="603504" cy="841248"/>
          </a:xfrm>
          <a:prstGeom prst="line">
            <a:avLst/>
          </a:prstGeom>
          <a:ln w="3048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26864" y="3163824"/>
            <a:ext cx="603504" cy="841248"/>
          </a:xfrm>
          <a:prstGeom prst="line">
            <a:avLst/>
          </a:prstGeom>
          <a:ln w="3048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023360" y="4005072"/>
            <a:ext cx="1207008" cy="0"/>
          </a:xfrm>
          <a:prstGeom prst="line">
            <a:avLst/>
          </a:prstGeom>
          <a:ln w="495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23360" y="4005072"/>
            <a:ext cx="603504" cy="841248"/>
          </a:xfrm>
          <a:prstGeom prst="line">
            <a:avLst/>
          </a:prstGeom>
          <a:ln w="3048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626864" y="4005072"/>
            <a:ext cx="603504" cy="841248"/>
          </a:xfrm>
          <a:prstGeom prst="line">
            <a:avLst/>
          </a:prstGeom>
          <a:ln w="30480">
            <a:solidFill>
              <a:srgbClr val="4A5563"/>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549140" y="3086100"/>
            <a:ext cx="155448" cy="155448"/>
          </a:xfrm>
          <a:prstGeom prst="ellipse">
            <a:avLst/>
          </a:prstGeom>
          <a:solidFill>
            <a:srgbClr val="6EA8F0"/>
          </a:solidFill>
          <a:ln w="1905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45636" y="3927348"/>
            <a:ext cx="155448" cy="155448"/>
          </a:xfrm>
          <a:prstGeom prst="ellipse">
            <a:avLst/>
          </a:prstGeom>
          <a:solidFill>
            <a:srgbClr val="6EA8F0"/>
          </a:solidFill>
          <a:ln w="1905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152644" y="3927348"/>
            <a:ext cx="155448" cy="155448"/>
          </a:xfrm>
          <a:prstGeom prst="ellipse">
            <a:avLst/>
          </a:prstGeom>
          <a:solidFill>
            <a:srgbClr val="6EA8F0"/>
          </a:solidFill>
          <a:ln w="1905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49140" y="4768596"/>
            <a:ext cx="155448" cy="155448"/>
          </a:xfrm>
          <a:prstGeom prst="ellipse">
            <a:avLst/>
          </a:prstGeom>
          <a:solidFill>
            <a:srgbClr val="6EA8F0"/>
          </a:solidFill>
          <a:ln w="1905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68496" y="5065776"/>
            <a:ext cx="310896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similarity graph, weighted by Jaccard</a:t>
            </a:r>
          </a:p>
        </p:txBody>
      </p:sp>
      <p:sp>
        <p:nvSpPr>
          <p:cNvPr id="34" name="TextBox 33"/>
          <p:cNvSpPr txBox="1"/>
          <p:nvPr/>
        </p:nvSpPr>
        <p:spPr>
          <a:xfrm>
            <a:off x="6675120" y="2802636"/>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ratings</a:t>
            </a:r>
          </a:p>
        </p:txBody>
      </p:sp>
      <p:sp>
        <p:nvSpPr>
          <p:cNvPr id="35" name="TextBox 34"/>
          <p:cNvSpPr txBox="1"/>
          <p:nvPr/>
        </p:nvSpPr>
        <p:spPr>
          <a:xfrm>
            <a:off x="9440631" y="2788920"/>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100,836</a:t>
            </a:r>
          </a:p>
        </p:txBody>
      </p:sp>
      <p:cxnSp>
        <p:nvCxnSpPr>
          <p:cNvPr id="36" name="Connector 35"/>
          <p:cNvCxnSpPr/>
          <p:nvPr/>
        </p:nvCxnSpPr>
        <p:spPr>
          <a:xfrm>
            <a:off x="6675120" y="3003804"/>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75120" y="3090672"/>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likes ≥ 3.5</a:t>
            </a:r>
          </a:p>
        </p:txBody>
      </p:sp>
      <p:sp>
        <p:nvSpPr>
          <p:cNvPr id="38" name="TextBox 37"/>
          <p:cNvSpPr txBox="1"/>
          <p:nvPr/>
        </p:nvSpPr>
        <p:spPr>
          <a:xfrm>
            <a:off x="9440631" y="3076956"/>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46,887</a:t>
            </a:r>
          </a:p>
        </p:txBody>
      </p:sp>
      <p:cxnSp>
        <p:nvCxnSpPr>
          <p:cNvPr id="39" name="Connector 38"/>
          <p:cNvCxnSpPr/>
          <p:nvPr/>
        </p:nvCxnSpPr>
        <p:spPr>
          <a:xfrm>
            <a:off x="6675120" y="3291840"/>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675120" y="3378708"/>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titles in catalogue</a:t>
            </a:r>
          </a:p>
        </p:txBody>
      </p:sp>
      <p:sp>
        <p:nvSpPr>
          <p:cNvPr id="41" name="TextBox 40"/>
          <p:cNvSpPr txBox="1"/>
          <p:nvPr/>
        </p:nvSpPr>
        <p:spPr>
          <a:xfrm>
            <a:off x="9440631" y="3364991"/>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1,437</a:t>
            </a:r>
          </a:p>
        </p:txBody>
      </p:sp>
      <p:cxnSp>
        <p:nvCxnSpPr>
          <p:cNvPr id="42" name="Connector 41"/>
          <p:cNvCxnSpPr/>
          <p:nvPr/>
        </p:nvCxnSpPr>
        <p:spPr>
          <a:xfrm>
            <a:off x="6675120" y="3579876"/>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675120" y="3666744"/>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viewers</a:t>
            </a:r>
          </a:p>
        </p:txBody>
      </p:sp>
      <p:sp>
        <p:nvSpPr>
          <p:cNvPr id="44" name="TextBox 43"/>
          <p:cNvSpPr txBox="1"/>
          <p:nvPr/>
        </p:nvSpPr>
        <p:spPr>
          <a:xfrm>
            <a:off x="9440631" y="3653027"/>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585</a:t>
            </a:r>
          </a:p>
        </p:txBody>
      </p:sp>
      <p:cxnSp>
        <p:nvCxnSpPr>
          <p:cNvPr id="45" name="Connector 44"/>
          <p:cNvCxnSpPr/>
          <p:nvPr/>
        </p:nvCxnSpPr>
        <p:spPr>
          <a:xfrm>
            <a:off x="6675120" y="3867912"/>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675120" y="3954780"/>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weighted edges</a:t>
            </a:r>
          </a:p>
        </p:txBody>
      </p:sp>
      <p:sp>
        <p:nvSpPr>
          <p:cNvPr id="47" name="TextBox 46"/>
          <p:cNvSpPr txBox="1"/>
          <p:nvPr/>
        </p:nvSpPr>
        <p:spPr>
          <a:xfrm>
            <a:off x="9440631" y="3941064"/>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8,498</a:t>
            </a:r>
          </a:p>
        </p:txBody>
      </p:sp>
      <p:cxnSp>
        <p:nvCxnSpPr>
          <p:cNvPr id="48" name="Connector 47"/>
          <p:cNvCxnSpPr/>
          <p:nvPr/>
        </p:nvCxnSpPr>
        <p:spPr>
          <a:xfrm>
            <a:off x="6675120" y="4155948"/>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675120" y="4242816"/>
            <a:ext cx="26374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neighbours kept per title</a:t>
            </a:r>
          </a:p>
        </p:txBody>
      </p:sp>
      <p:sp>
        <p:nvSpPr>
          <p:cNvPr id="50" name="TextBox 49"/>
          <p:cNvSpPr txBox="1"/>
          <p:nvPr/>
        </p:nvSpPr>
        <p:spPr>
          <a:xfrm>
            <a:off x="9440631" y="4229100"/>
            <a:ext cx="1971080"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 = 8</a:t>
            </a:r>
          </a:p>
        </p:txBody>
      </p:sp>
      <p:cxnSp>
        <p:nvCxnSpPr>
          <p:cNvPr id="51" name="Connector 50"/>
          <p:cNvCxnSpPr/>
          <p:nvPr/>
        </p:nvCxnSpPr>
        <p:spPr>
          <a:xfrm>
            <a:off x="6675120" y="4443984"/>
            <a:ext cx="4736592"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675120" y="4663440"/>
            <a:ext cx="4736592"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The projection is second-order: two titles are adjacent when the same viewers liked both. The weight is the Jaccard index of the two audiences — the share of their combined audience that liked both. The t₂–t₃ edge above is drawn twice as heavy because two viewers support it.</a:t>
            </a:r>
          </a:p>
        </p:txBody>
      </p:sp>
      <p:sp>
        <p:nvSpPr>
          <p:cNvPr id="53" name="TextBox 52"/>
          <p:cNvSpPr txBox="1"/>
          <p:nvPr/>
        </p:nvSpPr>
        <p:spPr>
          <a:xfrm>
            <a:off x="6675120" y="5504688"/>
            <a:ext cx="4736592"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The bundle also carries a recent-releases layer — 68 films from 2025 and 2026 — deliberately outside these counts, because the archive has no ratings for them and inventing an audience size would be a lie.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Degree · C039</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Two different numbers both get called degree</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3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Audience size d is how many viewers liked a title, and it drives the popularity term in the score. Similarity degree is how many titles share a neighbourhood with it, and it is what the graph topics count. They are different numbers, so the bundle stores them separately.</a:t>
            </a:r>
          </a:p>
        </p:txBody>
      </p:sp>
      <p:sp>
        <p:nvSpPr>
          <p:cNvPr id="8" name="TextBox 7"/>
          <p:cNvSpPr txBox="1"/>
          <p:nvPr/>
        </p:nvSpPr>
        <p:spPr>
          <a:xfrm>
            <a:off x="777240" y="3662172"/>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mean similarity degree</a:t>
            </a:r>
          </a:p>
        </p:txBody>
      </p:sp>
      <p:sp>
        <p:nvSpPr>
          <p:cNvPr id="9" name="TextBox 8"/>
          <p:cNvSpPr txBox="1"/>
          <p:nvPr/>
        </p:nvSpPr>
        <p:spPr>
          <a:xfrm>
            <a:off x="2827324" y="3648456"/>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11.83</a:t>
            </a:r>
          </a:p>
        </p:txBody>
      </p:sp>
      <p:cxnSp>
        <p:nvCxnSpPr>
          <p:cNvPr id="10" name="Connector 9"/>
          <p:cNvCxnSpPr/>
          <p:nvPr/>
        </p:nvCxnSpPr>
        <p:spPr>
          <a:xfrm>
            <a:off x="777240" y="386334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950208"/>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median</a:t>
            </a:r>
          </a:p>
        </p:txBody>
      </p:sp>
      <p:sp>
        <p:nvSpPr>
          <p:cNvPr id="12" name="TextBox 11"/>
          <p:cNvSpPr txBox="1"/>
          <p:nvPr/>
        </p:nvSpPr>
        <p:spPr>
          <a:xfrm>
            <a:off x="2827324" y="3936492"/>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11</a:t>
            </a:r>
          </a:p>
        </p:txBody>
      </p:sp>
      <p:cxnSp>
        <p:nvCxnSpPr>
          <p:cNvPr id="13" name="Connector 12"/>
          <p:cNvCxnSpPr/>
          <p:nvPr/>
        </p:nvCxnSpPr>
        <p:spPr>
          <a:xfrm>
            <a:off x="777240" y="415137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238244"/>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maximum</a:t>
            </a:r>
          </a:p>
        </p:txBody>
      </p:sp>
      <p:sp>
        <p:nvSpPr>
          <p:cNvPr id="15" name="TextBox 14"/>
          <p:cNvSpPr txBox="1"/>
          <p:nvPr/>
        </p:nvSpPr>
        <p:spPr>
          <a:xfrm>
            <a:off x="2827324" y="4224528"/>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36  ·  The Sweet Hereafter</a:t>
            </a:r>
          </a:p>
        </p:txBody>
      </p:sp>
      <p:cxnSp>
        <p:nvCxnSpPr>
          <p:cNvPr id="16" name="Connector 15"/>
          <p:cNvCxnSpPr/>
          <p:nvPr/>
        </p:nvCxnSpPr>
        <p:spPr>
          <a:xfrm>
            <a:off x="777240" y="443941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4526280"/>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sum of degrees</a:t>
            </a:r>
          </a:p>
        </p:txBody>
      </p:sp>
      <p:sp>
        <p:nvSpPr>
          <p:cNvPr id="18" name="TextBox 17"/>
          <p:cNvSpPr txBox="1"/>
          <p:nvPr/>
        </p:nvSpPr>
        <p:spPr>
          <a:xfrm>
            <a:off x="2827324" y="4512564"/>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46,887 = 2 × 8,498</a:t>
            </a:r>
          </a:p>
        </p:txBody>
      </p:sp>
      <p:cxnSp>
        <p:nvCxnSpPr>
          <p:cNvPr id="19" name="Connector 18"/>
          <p:cNvCxnSpPr/>
          <p:nvPr/>
        </p:nvCxnSpPr>
        <p:spPr>
          <a:xfrm>
            <a:off x="777240" y="472744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814316"/>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edge density</a:t>
            </a:r>
          </a:p>
        </p:txBody>
      </p:sp>
      <p:sp>
        <p:nvSpPr>
          <p:cNvPr id="21" name="TextBox 20"/>
          <p:cNvSpPr txBox="1"/>
          <p:nvPr/>
        </p:nvSpPr>
        <p:spPr>
          <a:xfrm>
            <a:off x="2827324" y="4800600"/>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0.0082</a:t>
            </a:r>
          </a:p>
        </p:txBody>
      </p:sp>
      <p:cxnSp>
        <p:nvCxnSpPr>
          <p:cNvPr id="22" name="Connector 21"/>
          <p:cNvCxnSpPr/>
          <p:nvPr/>
        </p:nvCxnSpPr>
        <p:spPr>
          <a:xfrm>
            <a:off x="777240" y="501548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102352"/>
            <a:ext cx="1922068"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mean audience size</a:t>
            </a:r>
          </a:p>
        </p:txBody>
      </p:sp>
      <p:sp>
        <p:nvSpPr>
          <p:cNvPr id="24" name="TextBox 23"/>
          <p:cNvSpPr txBox="1"/>
          <p:nvPr/>
        </p:nvSpPr>
        <p:spPr>
          <a:xfrm>
            <a:off x="2827324" y="5088636"/>
            <a:ext cx="2567635"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32.63</a:t>
            </a:r>
          </a:p>
        </p:txBody>
      </p:sp>
      <p:cxnSp>
        <p:nvCxnSpPr>
          <p:cNvPr id="25" name="Connector 24"/>
          <p:cNvCxnSpPr/>
          <p:nvPr/>
        </p:nvCxnSpPr>
        <p:spPr>
          <a:xfrm>
            <a:off x="777240" y="530352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89320" y="1572767"/>
            <a:ext cx="4572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Similarity degree, all 1,437 titles</a:t>
            </a:r>
          </a:p>
        </p:txBody>
      </p:sp>
      <p:sp>
        <p:nvSpPr>
          <p:cNvPr id="27" name="Rectangle 26"/>
          <p:cNvSpPr/>
          <p:nvPr/>
        </p:nvSpPr>
        <p:spPr>
          <a:xfrm>
            <a:off x="6021324" y="2139696"/>
            <a:ext cx="203911" cy="2395728"/>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79592"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8</a:t>
            </a:r>
          </a:p>
        </p:txBody>
      </p:sp>
      <p:sp>
        <p:nvSpPr>
          <p:cNvPr id="29" name="Rectangle 28"/>
          <p:cNvSpPr/>
          <p:nvPr/>
        </p:nvSpPr>
        <p:spPr>
          <a:xfrm>
            <a:off x="6289243" y="2640929"/>
            <a:ext cx="203911" cy="1894494"/>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57162" y="2793848"/>
            <a:ext cx="203911" cy="174157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25081" y="3252605"/>
            <a:ext cx="203911" cy="1282818"/>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93000" y="3422514"/>
            <a:ext cx="203911" cy="1112909"/>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51268"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12</a:t>
            </a:r>
          </a:p>
        </p:txBody>
      </p:sp>
      <p:sp>
        <p:nvSpPr>
          <p:cNvPr id="34" name="Rectangle 33"/>
          <p:cNvSpPr/>
          <p:nvPr/>
        </p:nvSpPr>
        <p:spPr>
          <a:xfrm>
            <a:off x="7360920" y="3855784"/>
            <a:ext cx="203911" cy="679639"/>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28839" y="3881271"/>
            <a:ext cx="203911" cy="654152"/>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96758" y="4093658"/>
            <a:ext cx="203911" cy="44176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64677" y="3966226"/>
            <a:ext cx="203911" cy="569197"/>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22945"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16</a:t>
            </a:r>
          </a:p>
        </p:txBody>
      </p:sp>
      <p:sp>
        <p:nvSpPr>
          <p:cNvPr id="39" name="Rectangle 38"/>
          <p:cNvSpPr/>
          <p:nvPr/>
        </p:nvSpPr>
        <p:spPr>
          <a:xfrm>
            <a:off x="8432596" y="4187108"/>
            <a:ext cx="203911" cy="34831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00516" y="4357018"/>
            <a:ext cx="203911" cy="17840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968435" y="4348523"/>
            <a:ext cx="203911" cy="186900"/>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36354" y="4374009"/>
            <a:ext cx="203911" cy="161414"/>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94622"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20</a:t>
            </a:r>
          </a:p>
        </p:txBody>
      </p:sp>
      <p:sp>
        <p:nvSpPr>
          <p:cNvPr id="44" name="Rectangle 43"/>
          <p:cNvSpPr/>
          <p:nvPr/>
        </p:nvSpPr>
        <p:spPr>
          <a:xfrm>
            <a:off x="9504273" y="4407991"/>
            <a:ext cx="203911" cy="127432"/>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72192" y="4467460"/>
            <a:ext cx="203911" cy="67963"/>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040112" y="4450469"/>
            <a:ext cx="203911" cy="84954"/>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308031" y="4484451"/>
            <a:ext cx="203911" cy="50972"/>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66299"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24</a:t>
            </a:r>
          </a:p>
        </p:txBody>
      </p:sp>
      <p:sp>
        <p:nvSpPr>
          <p:cNvPr id="49" name="Rectangle 48"/>
          <p:cNvSpPr/>
          <p:nvPr/>
        </p:nvSpPr>
        <p:spPr>
          <a:xfrm>
            <a:off x="10575950" y="4458964"/>
            <a:ext cx="203911" cy="76459"/>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843869" y="4484451"/>
            <a:ext cx="203911" cy="50972"/>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111788" y="4433478"/>
            <a:ext cx="203911" cy="10194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970056" y="4608576"/>
            <a:ext cx="402336" cy="164592"/>
          </a:xfrm>
          <a:prstGeom prst="rect">
            <a:avLst/>
          </a:prstGeom>
          <a:noFill/>
        </p:spPr>
        <p:txBody>
          <a:bodyPr wrap="square" lIns="0" tIns="0" rIns="0" bIns="0" anchor="t">
            <a:spAutoFit/>
          </a:bodyPr>
          <a:lstStyle/>
          <a:p>
            <a:pPr algn="l">
              <a:lnSpc>
                <a:spcPct val="125000"/>
              </a:lnSpc>
              <a:spcBef>
                <a:spcPts val="0"/>
              </a:spcBef>
              <a:spcAft>
                <a:spcPts val="0"/>
              </a:spcAft>
            </a:pPr>
            <a:r>
              <a:rPr sz="750" b="0" i="0">
                <a:solidFill>
                  <a:srgbClr val="5D6470"/>
                </a:solidFill>
                <a:latin typeface="IBM Plex Mono"/>
              </a:rPr>
              <a:t>27+</a:t>
            </a:r>
          </a:p>
        </p:txBody>
      </p:sp>
      <p:cxnSp>
        <p:nvCxnSpPr>
          <p:cNvPr id="53" name="Connector 52"/>
          <p:cNvCxnSpPr/>
          <p:nvPr/>
        </p:nvCxnSpPr>
        <p:spPr>
          <a:xfrm>
            <a:off x="5989320" y="4535424"/>
            <a:ext cx="5358384"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007607" y="4809744"/>
            <a:ext cx="292608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Sans"/>
              </a:rPr>
              <a:t>titles at each degree</a:t>
            </a:r>
          </a:p>
        </p:txBody>
      </p:sp>
      <p:sp>
        <p:nvSpPr>
          <p:cNvPr id="55" name="TextBox 54"/>
          <p:cNvSpPr txBox="1"/>
          <p:nvPr/>
        </p:nvSpPr>
        <p:spPr>
          <a:xfrm>
            <a:off x="6007607" y="2002536"/>
            <a:ext cx="54864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Mono"/>
              </a:rPr>
              <a:t>282</a:t>
            </a:r>
          </a:p>
        </p:txBody>
      </p:sp>
      <p:sp>
        <p:nvSpPr>
          <p:cNvPr id="56" name="TextBox 55"/>
          <p:cNvSpPr txBox="1"/>
          <p:nvPr/>
        </p:nvSpPr>
        <p:spPr>
          <a:xfrm>
            <a:off x="10341864" y="4206240"/>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tail 12</a:t>
            </a:r>
          </a:p>
        </p:txBody>
      </p:sp>
      <p:sp>
        <p:nvSpPr>
          <p:cNvPr id="57" name="TextBox 56"/>
          <p:cNvSpPr txBox="1"/>
          <p:nvPr/>
        </p:nvSpPr>
        <p:spPr>
          <a:xfrm>
            <a:off x="5989320" y="5138928"/>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The spike at the left is not a property of the data, it is the construction: every title keeps its eight strongest neighbours, so degree 8 is a floor. Above that the tail is genuine — a handful of titles are structurally close to thirty-odd others.</a:t>
            </a:r>
          </a:p>
        </p:txBody>
      </p:sp>
      <p:sp>
        <p:nvSpPr>
          <p:cNvPr id="58" name="TextBox 57"/>
          <p:cNvSpPr txBox="1"/>
          <p:nvPr/>
        </p:nvSpPr>
        <p:spPr>
          <a:xfrm>
            <a:off x="5989320" y="5705856"/>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Handshaking lemma: every edge contributes twice, and the ledger balances — 16,996 degree units against 8,498 edges.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Connectivity · C039</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One component, no chokepoints, diameter seven</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4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Union–find with path compression and union by rank over all 8,498 edges returns a single component holding every one of the 1,437 titles. The graph has no articulation point and no bridge, so no title is load-bearing and no edge is a chokepoint.</a:t>
            </a:r>
          </a:p>
        </p:txBody>
      </p:sp>
      <p:sp>
        <p:nvSpPr>
          <p:cNvPr id="8" name="TextBox 7"/>
          <p:cNvSpPr txBox="1"/>
          <p:nvPr/>
        </p:nvSpPr>
        <p:spPr>
          <a:xfrm>
            <a:off x="777240" y="3095244"/>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components</a:t>
            </a:r>
          </a:p>
        </p:txBody>
      </p:sp>
      <p:sp>
        <p:nvSpPr>
          <p:cNvPr id="9" name="TextBox 8"/>
          <p:cNvSpPr txBox="1"/>
          <p:nvPr/>
        </p:nvSpPr>
        <p:spPr>
          <a:xfrm>
            <a:off x="3473805" y="3081527"/>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a:t>
            </a:r>
          </a:p>
        </p:txBody>
      </p:sp>
      <p:cxnSp>
        <p:nvCxnSpPr>
          <p:cNvPr id="10" name="Connector 9"/>
          <p:cNvCxnSpPr/>
          <p:nvPr/>
        </p:nvCxnSpPr>
        <p:spPr>
          <a:xfrm>
            <a:off x="777240" y="329641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383279"/>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large component</a:t>
            </a:r>
          </a:p>
        </p:txBody>
      </p:sp>
      <p:sp>
        <p:nvSpPr>
          <p:cNvPr id="12" name="TextBox 11"/>
          <p:cNvSpPr txBox="1"/>
          <p:nvPr/>
        </p:nvSpPr>
        <p:spPr>
          <a:xfrm>
            <a:off x="3473805" y="3369563"/>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1,437</a:t>
            </a:r>
          </a:p>
        </p:txBody>
      </p:sp>
      <p:cxnSp>
        <p:nvCxnSpPr>
          <p:cNvPr id="13" name="Connector 12"/>
          <p:cNvCxnSpPr/>
          <p:nvPr/>
        </p:nvCxnSpPr>
        <p:spPr>
          <a:xfrm>
            <a:off x="777240" y="358444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671315"/>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articulation points</a:t>
            </a:r>
          </a:p>
        </p:txBody>
      </p:sp>
      <p:sp>
        <p:nvSpPr>
          <p:cNvPr id="15" name="TextBox 14"/>
          <p:cNvSpPr txBox="1"/>
          <p:nvPr/>
        </p:nvSpPr>
        <p:spPr>
          <a:xfrm>
            <a:off x="3473805" y="3657599"/>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a:t>
            </a:r>
          </a:p>
        </p:txBody>
      </p:sp>
      <p:cxnSp>
        <p:nvCxnSpPr>
          <p:cNvPr id="16" name="Connector 15"/>
          <p:cNvCxnSpPr/>
          <p:nvPr/>
        </p:nvCxnSpPr>
        <p:spPr>
          <a:xfrm>
            <a:off x="777240" y="387248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3959352"/>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bridges</a:t>
            </a:r>
          </a:p>
        </p:txBody>
      </p:sp>
      <p:sp>
        <p:nvSpPr>
          <p:cNvPr id="18" name="TextBox 17"/>
          <p:cNvSpPr txBox="1"/>
          <p:nvPr/>
        </p:nvSpPr>
        <p:spPr>
          <a:xfrm>
            <a:off x="3473805" y="3945636"/>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a:t>
            </a:r>
          </a:p>
        </p:txBody>
      </p:sp>
      <p:cxnSp>
        <p:nvCxnSpPr>
          <p:cNvPr id="19" name="Connector 18"/>
          <p:cNvCxnSpPr/>
          <p:nvPr/>
        </p:nvCxnSpPr>
        <p:spPr>
          <a:xfrm>
            <a:off x="777240" y="416052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24738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diameter</a:t>
            </a:r>
          </a:p>
        </p:txBody>
      </p:sp>
      <p:sp>
        <p:nvSpPr>
          <p:cNvPr id="21" name="TextBox 20"/>
          <p:cNvSpPr txBox="1"/>
          <p:nvPr/>
        </p:nvSpPr>
        <p:spPr>
          <a:xfrm>
            <a:off x="3473805" y="423367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7</a:t>
            </a:r>
          </a:p>
        </p:txBody>
      </p:sp>
      <p:cxnSp>
        <p:nvCxnSpPr>
          <p:cNvPr id="22" name="Connector 21"/>
          <p:cNvCxnSpPr/>
          <p:nvPr/>
        </p:nvCxnSpPr>
        <p:spPr>
          <a:xfrm>
            <a:off x="777240" y="444855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4535424"/>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mean path length</a:t>
            </a:r>
          </a:p>
        </p:txBody>
      </p:sp>
      <p:sp>
        <p:nvSpPr>
          <p:cNvPr id="24" name="TextBox 23"/>
          <p:cNvSpPr txBox="1"/>
          <p:nvPr/>
        </p:nvSpPr>
        <p:spPr>
          <a:xfrm>
            <a:off x="3473805" y="4521708"/>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3.799</a:t>
            </a:r>
          </a:p>
        </p:txBody>
      </p:sp>
      <p:cxnSp>
        <p:nvCxnSpPr>
          <p:cNvPr id="25" name="Connector 24"/>
          <p:cNvCxnSpPr/>
          <p:nvPr/>
        </p:nvCxnSpPr>
        <p:spPr>
          <a:xfrm>
            <a:off x="777240" y="473659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4823460"/>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clustering coefficient</a:t>
            </a:r>
          </a:p>
        </p:txBody>
      </p:sp>
      <p:sp>
        <p:nvSpPr>
          <p:cNvPr id="27" name="TextBox 26"/>
          <p:cNvSpPr txBox="1"/>
          <p:nvPr/>
        </p:nvSpPr>
        <p:spPr>
          <a:xfrm>
            <a:off x="3473805" y="4809744"/>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0.1676</a:t>
            </a:r>
          </a:p>
        </p:txBody>
      </p:sp>
      <p:cxnSp>
        <p:nvCxnSpPr>
          <p:cNvPr id="28" name="Connector 27"/>
          <p:cNvCxnSpPr/>
          <p:nvPr/>
        </p:nvCxnSpPr>
        <p:spPr>
          <a:xfrm>
            <a:off x="777240" y="502462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89320" y="1956816"/>
            <a:ext cx="4572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Viewer 498 — every title by hop distance</a:t>
            </a:r>
          </a:p>
        </p:txBody>
      </p:sp>
      <p:sp>
        <p:nvSpPr>
          <p:cNvPr id="30" name="Rectangle 29"/>
          <p:cNvSpPr/>
          <p:nvPr/>
        </p:nvSpPr>
        <p:spPr>
          <a:xfrm>
            <a:off x="5989320" y="2231136"/>
            <a:ext cx="78306" cy="420624"/>
          </a:xfrm>
          <a:prstGeom prst="rect">
            <a:avLst/>
          </a:prstGeom>
          <a:solidFill>
            <a:srgbClr val="141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67626" y="2231136"/>
            <a:ext cx="346784" cy="420624"/>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14411" y="2231136"/>
            <a:ext cx="1148491" cy="420624"/>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62902" y="2231136"/>
            <a:ext cx="2498341" cy="420624"/>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061244" y="2231136"/>
            <a:ext cx="1286459" cy="420624"/>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89320" y="2871216"/>
            <a:ext cx="146304" cy="146304"/>
          </a:xfrm>
          <a:prstGeom prst="rect">
            <a:avLst/>
          </a:prstGeom>
          <a:solidFill>
            <a:srgbClr val="141B28"/>
          </a:solidFill>
          <a:ln w="762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834640"/>
            <a:ext cx="20116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own likes</a:t>
            </a:r>
          </a:p>
        </p:txBody>
      </p:sp>
      <p:sp>
        <p:nvSpPr>
          <p:cNvPr id="37" name="TextBox 36"/>
          <p:cNvSpPr txBox="1"/>
          <p:nvPr/>
        </p:nvSpPr>
        <p:spPr>
          <a:xfrm>
            <a:off x="8183879" y="2834640"/>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21</a:t>
            </a:r>
          </a:p>
        </p:txBody>
      </p:sp>
      <p:sp>
        <p:nvSpPr>
          <p:cNvPr id="38" name="TextBox 37"/>
          <p:cNvSpPr txBox="1"/>
          <p:nvPr/>
        </p:nvSpPr>
        <p:spPr>
          <a:xfrm>
            <a:off x="9189720" y="2834640"/>
            <a:ext cx="210312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Mono"/>
              </a:rPr>
              <a:t>1.5%</a:t>
            </a:r>
          </a:p>
        </p:txBody>
      </p:sp>
      <p:sp>
        <p:nvSpPr>
          <p:cNvPr id="39" name="Rectangle 38"/>
          <p:cNvSpPr/>
          <p:nvPr/>
        </p:nvSpPr>
        <p:spPr>
          <a:xfrm>
            <a:off x="5989320" y="3255264"/>
            <a:ext cx="146304" cy="146304"/>
          </a:xfrm>
          <a:prstGeom prst="rect">
            <a:avLst/>
          </a:prstGeom>
          <a:solidFill>
            <a:srgbClr val="6EA8F0"/>
          </a:solidFill>
          <a:ln w="762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3218688"/>
            <a:ext cx="20116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1 hop</a:t>
            </a:r>
          </a:p>
        </p:txBody>
      </p:sp>
      <p:sp>
        <p:nvSpPr>
          <p:cNvPr id="41" name="TextBox 40"/>
          <p:cNvSpPr txBox="1"/>
          <p:nvPr/>
        </p:nvSpPr>
        <p:spPr>
          <a:xfrm>
            <a:off x="8183879" y="3218688"/>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93</a:t>
            </a:r>
          </a:p>
        </p:txBody>
      </p:sp>
      <p:sp>
        <p:nvSpPr>
          <p:cNvPr id="42" name="TextBox 41"/>
          <p:cNvSpPr txBox="1"/>
          <p:nvPr/>
        </p:nvSpPr>
        <p:spPr>
          <a:xfrm>
            <a:off x="9189720" y="3218688"/>
            <a:ext cx="210312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Mono"/>
              </a:rPr>
              <a:t>6.5%</a:t>
            </a:r>
          </a:p>
        </p:txBody>
      </p:sp>
      <p:sp>
        <p:nvSpPr>
          <p:cNvPr id="43" name="Rectangle 42"/>
          <p:cNvSpPr/>
          <p:nvPr/>
        </p:nvSpPr>
        <p:spPr>
          <a:xfrm>
            <a:off x="5989320" y="3639312"/>
            <a:ext cx="146304" cy="146304"/>
          </a:xfrm>
          <a:prstGeom prst="rect">
            <a:avLst/>
          </a:prstGeom>
          <a:solidFill>
            <a:srgbClr val="4D92FF"/>
          </a:solidFill>
          <a:ln w="762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3602736"/>
            <a:ext cx="20116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2 hops</a:t>
            </a:r>
          </a:p>
        </p:txBody>
      </p:sp>
      <p:sp>
        <p:nvSpPr>
          <p:cNvPr id="45" name="TextBox 44"/>
          <p:cNvSpPr txBox="1"/>
          <p:nvPr/>
        </p:nvSpPr>
        <p:spPr>
          <a:xfrm>
            <a:off x="8183879" y="3602736"/>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308</a:t>
            </a:r>
          </a:p>
        </p:txBody>
      </p:sp>
      <p:sp>
        <p:nvSpPr>
          <p:cNvPr id="46" name="TextBox 45"/>
          <p:cNvSpPr txBox="1"/>
          <p:nvPr/>
        </p:nvSpPr>
        <p:spPr>
          <a:xfrm>
            <a:off x="9189720" y="3602736"/>
            <a:ext cx="210312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Mono"/>
              </a:rPr>
              <a:t>21.4%</a:t>
            </a:r>
          </a:p>
        </p:txBody>
      </p:sp>
      <p:sp>
        <p:nvSpPr>
          <p:cNvPr id="47" name="Rectangle 46"/>
          <p:cNvSpPr/>
          <p:nvPr/>
        </p:nvSpPr>
        <p:spPr>
          <a:xfrm>
            <a:off x="5989320" y="4023360"/>
            <a:ext cx="146304" cy="146304"/>
          </a:xfrm>
          <a:prstGeom prst="rect">
            <a:avLst/>
          </a:prstGeom>
          <a:solidFill>
            <a:srgbClr val="2F7BEF"/>
          </a:solidFill>
          <a:ln w="762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986784"/>
            <a:ext cx="20116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3 hops</a:t>
            </a:r>
          </a:p>
        </p:txBody>
      </p:sp>
      <p:sp>
        <p:nvSpPr>
          <p:cNvPr id="49" name="TextBox 48"/>
          <p:cNvSpPr txBox="1"/>
          <p:nvPr/>
        </p:nvSpPr>
        <p:spPr>
          <a:xfrm>
            <a:off x="8183879" y="3986784"/>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670</a:t>
            </a:r>
          </a:p>
        </p:txBody>
      </p:sp>
      <p:sp>
        <p:nvSpPr>
          <p:cNvPr id="50" name="TextBox 49"/>
          <p:cNvSpPr txBox="1"/>
          <p:nvPr/>
        </p:nvSpPr>
        <p:spPr>
          <a:xfrm>
            <a:off x="9189720" y="3986784"/>
            <a:ext cx="210312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Mono"/>
              </a:rPr>
              <a:t>46.6%</a:t>
            </a:r>
          </a:p>
        </p:txBody>
      </p:sp>
      <p:sp>
        <p:nvSpPr>
          <p:cNvPr id="51" name="Rectangle 50"/>
          <p:cNvSpPr/>
          <p:nvPr/>
        </p:nvSpPr>
        <p:spPr>
          <a:xfrm>
            <a:off x="5989320" y="4407408"/>
            <a:ext cx="146304" cy="146304"/>
          </a:xfrm>
          <a:prstGeom prst="rect">
            <a:avLst/>
          </a:prstGeom>
          <a:solidFill>
            <a:srgbClr val="2A3247"/>
          </a:solidFill>
          <a:ln w="7620">
            <a:solidFill>
              <a:srgbClr val="2327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63640" y="4370832"/>
            <a:ext cx="20116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4+</a:t>
            </a:r>
          </a:p>
        </p:txBody>
      </p:sp>
      <p:sp>
        <p:nvSpPr>
          <p:cNvPr id="53" name="TextBox 52"/>
          <p:cNvSpPr txBox="1"/>
          <p:nvPr/>
        </p:nvSpPr>
        <p:spPr>
          <a:xfrm>
            <a:off x="8183879" y="4370832"/>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345</a:t>
            </a:r>
          </a:p>
        </p:txBody>
      </p:sp>
      <p:sp>
        <p:nvSpPr>
          <p:cNvPr id="54" name="TextBox 53"/>
          <p:cNvSpPr txBox="1"/>
          <p:nvPr/>
        </p:nvSpPr>
        <p:spPr>
          <a:xfrm>
            <a:off x="9189720" y="4370832"/>
            <a:ext cx="210312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Mono"/>
              </a:rPr>
              <a:t>24.0%</a:t>
            </a:r>
          </a:p>
        </p:txBody>
      </p:sp>
      <p:sp>
        <p:nvSpPr>
          <p:cNvPr id="55" name="TextBox 54"/>
          <p:cNvSpPr txBox="1"/>
          <p:nvPr/>
        </p:nvSpPr>
        <p:spPr>
          <a:xfrm>
            <a:off x="5989320" y="4828032"/>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The five parts sum to 1,437 — the 21 titles the viewer already liked are at distance zero and are counted before the search begins. Almost half the catalogue is three hops away, and 345 titles sit at four or beyond, outside the three-hop window the recommendation stage searches. That limit is stated in the app rather than hidden.</a:t>
            </a:r>
          </a:p>
        </p:txBody>
      </p:sp>
      <p:sp>
        <p:nvSpPr>
          <p:cNvPr id="56" name="TextBox 55"/>
          <p:cNvSpPr txBox="1"/>
          <p:nvPr/>
        </p:nvSpPr>
        <p:spPr>
          <a:xfrm>
            <a:off x="5989320" y="5669280"/>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Diameter 7 on 1,437 vertices is the small-world signature: sparse, but the high-audience titles act as hubs.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Path · C043</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A recommendation is a path, and the app draws it</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5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A path of length three, alternating between the two sides of the bipartite graph: the viewer, a co-liker, the title the two of them most agree on, and the candidate. The co-liker is the witness, the anchor is the evidence, and the candidate is the answer.</a:t>
            </a:r>
          </a:p>
        </p:txBody>
      </p:sp>
      <p:cxnSp>
        <p:nvCxnSpPr>
          <p:cNvPr id="8" name="Connector 7"/>
          <p:cNvCxnSpPr/>
          <p:nvPr/>
        </p:nvCxnSpPr>
        <p:spPr>
          <a:xfrm>
            <a:off x="6291072" y="2249424"/>
            <a:ext cx="2103120" cy="0"/>
          </a:xfrm>
          <a:prstGeom prst="line">
            <a:avLst/>
          </a:prstGeom>
          <a:ln w="1397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068312" y="2249424"/>
            <a:ext cx="1325880" cy="1060704"/>
          </a:xfrm>
          <a:prstGeom prst="line">
            <a:avLst/>
          </a:prstGeom>
          <a:ln w="1397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68312" y="3310128"/>
            <a:ext cx="2103120" cy="0"/>
          </a:xfrm>
          <a:prstGeom prst="line">
            <a:avLst/>
          </a:prstGeom>
          <a:ln w="13970">
            <a:solidFill>
              <a:srgbClr val="4A5563"/>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144768" y="2103120"/>
            <a:ext cx="292608" cy="292608"/>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87568" y="2468879"/>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498</a:t>
            </a:r>
          </a:p>
        </p:txBody>
      </p:sp>
      <p:sp>
        <p:nvSpPr>
          <p:cNvPr id="13" name="TextBox 12"/>
          <p:cNvSpPr txBox="1"/>
          <p:nvPr/>
        </p:nvSpPr>
        <p:spPr>
          <a:xfrm>
            <a:off x="5687568" y="2670048"/>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viewer 498</a:t>
            </a:r>
          </a:p>
        </p:txBody>
      </p:sp>
      <p:sp>
        <p:nvSpPr>
          <p:cNvPr id="14" name="Rectangle 13"/>
          <p:cNvSpPr/>
          <p:nvPr/>
        </p:nvSpPr>
        <p:spPr>
          <a:xfrm>
            <a:off x="8247888" y="2103120"/>
            <a:ext cx="292608" cy="292608"/>
          </a:xfrm>
          <a:prstGeom prst="rect">
            <a:avLst/>
          </a:prstGeom>
          <a:solidFill>
            <a:srgbClr val="8FB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0688" y="2468879"/>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6</a:t>
            </a:r>
          </a:p>
        </p:txBody>
      </p:sp>
      <p:sp>
        <p:nvSpPr>
          <p:cNvPr id="16" name="TextBox 15"/>
          <p:cNvSpPr txBox="1"/>
          <p:nvPr/>
        </p:nvSpPr>
        <p:spPr>
          <a:xfrm>
            <a:off x="7790688" y="2670048"/>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co-liker</a:t>
            </a:r>
          </a:p>
        </p:txBody>
      </p:sp>
      <p:sp>
        <p:nvSpPr>
          <p:cNvPr id="17" name="Rectangle 16"/>
          <p:cNvSpPr/>
          <p:nvPr/>
        </p:nvSpPr>
        <p:spPr>
          <a:xfrm>
            <a:off x="6922007" y="3163824"/>
            <a:ext cx="292608" cy="292608"/>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3529584"/>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356</a:t>
            </a:r>
          </a:p>
        </p:txBody>
      </p:sp>
      <p:sp>
        <p:nvSpPr>
          <p:cNvPr id="19" name="TextBox 18"/>
          <p:cNvSpPr txBox="1"/>
          <p:nvPr/>
        </p:nvSpPr>
        <p:spPr>
          <a:xfrm>
            <a:off x="6464807" y="3730752"/>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Forrest Gump</a:t>
            </a:r>
          </a:p>
        </p:txBody>
      </p:sp>
      <p:sp>
        <p:nvSpPr>
          <p:cNvPr id="20" name="Rectangle 19"/>
          <p:cNvSpPr/>
          <p:nvPr/>
        </p:nvSpPr>
        <p:spPr>
          <a:xfrm>
            <a:off x="9025128" y="3163824"/>
            <a:ext cx="292608" cy="292608"/>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67928" y="3529584"/>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2571</a:t>
            </a:r>
          </a:p>
        </p:txBody>
      </p:sp>
      <p:sp>
        <p:nvSpPr>
          <p:cNvPr id="22" name="TextBox 21"/>
          <p:cNvSpPr txBox="1"/>
          <p:nvPr/>
        </p:nvSpPr>
        <p:spPr>
          <a:xfrm>
            <a:off x="8567928" y="3730752"/>
            <a:ext cx="1207008"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The Matrix</a:t>
            </a:r>
          </a:p>
        </p:txBody>
      </p:sp>
      <p:sp>
        <p:nvSpPr>
          <p:cNvPr id="23" name="TextBox 22"/>
          <p:cNvSpPr txBox="1"/>
          <p:nvPr/>
        </p:nvSpPr>
        <p:spPr>
          <a:xfrm>
            <a:off x="7104888" y="2432303"/>
            <a:ext cx="91440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1">
                <a:solidFill>
                  <a:srgbClr val="5D6470"/>
                </a:solidFill>
                <a:latin typeface="IBM Plex Serif"/>
              </a:rPr>
              <a:t>viewed</a:t>
            </a:r>
          </a:p>
        </p:txBody>
      </p:sp>
      <p:sp>
        <p:nvSpPr>
          <p:cNvPr id="24" name="TextBox 23"/>
          <p:cNvSpPr txBox="1"/>
          <p:nvPr/>
        </p:nvSpPr>
        <p:spPr>
          <a:xfrm>
            <a:off x="9208008" y="3493008"/>
            <a:ext cx="109728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1">
                <a:solidFill>
                  <a:srgbClr val="5D6470"/>
                </a:solidFill>
                <a:latin typeface="IBM Plex Serif"/>
              </a:rPr>
              <a:t>recommended</a:t>
            </a:r>
          </a:p>
        </p:txBody>
      </p:sp>
      <p:sp>
        <p:nvSpPr>
          <p:cNvPr id="25" name="TextBox 24"/>
          <p:cNvSpPr txBox="1"/>
          <p:nvPr/>
        </p:nvSpPr>
        <p:spPr>
          <a:xfrm>
            <a:off x="6053328" y="1792223"/>
            <a:ext cx="493776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one witness path, 498 → The Matrix</a:t>
            </a:r>
          </a:p>
        </p:txBody>
      </p:sp>
      <p:sp>
        <p:nvSpPr>
          <p:cNvPr id="26" name="TextBox 25"/>
          <p:cNvSpPr txBox="1"/>
          <p:nvPr/>
        </p:nvSpPr>
        <p:spPr>
          <a:xfrm>
            <a:off x="5989320" y="4009644"/>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titles 498 and viewer 6 both liked</a:t>
            </a:r>
          </a:p>
        </p:txBody>
      </p:sp>
      <p:sp>
        <p:nvSpPr>
          <p:cNvPr id="27" name="TextBox 26"/>
          <p:cNvSpPr txBox="1"/>
          <p:nvPr/>
        </p:nvSpPr>
        <p:spPr>
          <a:xfrm>
            <a:off x="9115470" y="3995928"/>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16</a:t>
            </a:r>
          </a:p>
        </p:txBody>
      </p:sp>
      <p:cxnSp>
        <p:nvCxnSpPr>
          <p:cNvPr id="28" name="Connector 27"/>
          <p:cNvCxnSpPr/>
          <p:nvPr/>
        </p:nvCxnSpPr>
        <p:spPr>
          <a:xfrm>
            <a:off x="5989320" y="4210812"/>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89320" y="4297680"/>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same, for viewers 58 and 45</a:t>
            </a:r>
          </a:p>
        </p:txBody>
      </p:sp>
      <p:sp>
        <p:nvSpPr>
          <p:cNvPr id="30" name="TextBox 29"/>
          <p:cNvSpPr txBox="1"/>
          <p:nvPr/>
        </p:nvSpPr>
        <p:spPr>
          <a:xfrm>
            <a:off x="9115470" y="4283964"/>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16  ·  14</a:t>
            </a:r>
          </a:p>
        </p:txBody>
      </p:sp>
      <p:cxnSp>
        <p:nvCxnSpPr>
          <p:cNvPr id="31" name="Connector 30"/>
          <p:cNvCxnSpPr/>
          <p:nvPr/>
        </p:nvCxnSpPr>
        <p:spPr>
          <a:xfrm>
            <a:off x="5989320" y="4498848"/>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89320" y="4585716"/>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anchor</a:t>
            </a:r>
          </a:p>
        </p:txBody>
      </p:sp>
      <p:sp>
        <p:nvSpPr>
          <p:cNvPr id="33" name="TextBox 32"/>
          <p:cNvSpPr txBox="1"/>
          <p:nvPr/>
        </p:nvSpPr>
        <p:spPr>
          <a:xfrm>
            <a:off x="9115470" y="4572000"/>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Forrest Gump  (356)</a:t>
            </a:r>
          </a:p>
        </p:txBody>
      </p:sp>
      <p:cxnSp>
        <p:nvCxnSpPr>
          <p:cNvPr id="34" name="Connector 33"/>
          <p:cNvCxnSpPr/>
          <p:nvPr/>
        </p:nvCxnSpPr>
        <p:spPr>
          <a:xfrm>
            <a:off x="5989320" y="4786884"/>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89320" y="4873752"/>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Jaccard, anchor → candidate</a:t>
            </a:r>
          </a:p>
        </p:txBody>
      </p:sp>
      <p:sp>
        <p:nvSpPr>
          <p:cNvPr id="36" name="TextBox 35"/>
          <p:cNvSpPr txBox="1"/>
          <p:nvPr/>
        </p:nvSpPr>
        <p:spPr>
          <a:xfrm>
            <a:off x="9115470" y="4860036"/>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0.409</a:t>
            </a:r>
          </a:p>
        </p:txBody>
      </p:sp>
      <p:cxnSp>
        <p:nvCxnSpPr>
          <p:cNvPr id="37" name="Connector 36"/>
          <p:cNvCxnSpPr/>
          <p:nvPr/>
        </p:nvCxnSpPr>
        <p:spPr>
          <a:xfrm>
            <a:off x="5989320" y="5074920"/>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89320" y="5161788"/>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distinct 4-cycles  P</a:t>
            </a:r>
          </a:p>
        </p:txBody>
      </p:sp>
      <p:sp>
        <p:nvSpPr>
          <p:cNvPr id="39" name="TextBox 38"/>
          <p:cNvSpPr txBox="1"/>
          <p:nvPr/>
        </p:nvSpPr>
        <p:spPr>
          <a:xfrm>
            <a:off x="9115470" y="5148072"/>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1,124</a:t>
            </a:r>
          </a:p>
        </p:txBody>
      </p:sp>
      <p:cxnSp>
        <p:nvCxnSpPr>
          <p:cNvPr id="40" name="Connector 39"/>
          <p:cNvCxnSpPr/>
          <p:nvPr/>
        </p:nvCxnSpPr>
        <p:spPr>
          <a:xfrm>
            <a:off x="5989320" y="5362956"/>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89320" y="5449824"/>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candidates ranked</a:t>
            </a:r>
          </a:p>
        </p:txBody>
      </p:sp>
      <p:sp>
        <p:nvSpPr>
          <p:cNvPr id="42" name="TextBox 41"/>
          <p:cNvSpPr txBox="1"/>
          <p:nvPr/>
        </p:nvSpPr>
        <p:spPr>
          <a:xfrm>
            <a:off x="9115470" y="5436108"/>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1,416</a:t>
            </a:r>
          </a:p>
        </p:txBody>
      </p:sp>
      <p:cxnSp>
        <p:nvCxnSpPr>
          <p:cNvPr id="43" name="Connector 42"/>
          <p:cNvCxnSpPr/>
          <p:nvPr/>
        </p:nvCxnSpPr>
        <p:spPr>
          <a:xfrm>
            <a:off x="5989320" y="5650992"/>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77240" y="3858768"/>
            <a:ext cx="461772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Read the four stops as a walk: viewer, co-liker, anchor, candidate. Close it at the viewer and the same three edges form a 4-cycle in the bipartite graph — exactly what the next slide counts.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Cycle · C043</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Cycles measure echo, and echo must be divided out</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6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Close the three-hop path at the viewer and it is a 4-cycle. The count of distinct such cycles is the support term P. But a cycle also means the viewer's neighbours already cover the candidate's audience — so P alone rewards echo, and the score has to divide it back out.</a:t>
            </a:r>
          </a:p>
        </p:txBody>
      </p:sp>
      <p:sp>
        <p:nvSpPr>
          <p:cNvPr id="8" name="Oval 7"/>
          <p:cNvSpPr/>
          <p:nvPr/>
        </p:nvSpPr>
        <p:spPr>
          <a:xfrm>
            <a:off x="6053328" y="2340864"/>
            <a:ext cx="1280160" cy="1280160"/>
          </a:xfrm>
          <a:prstGeom prst="ellipse">
            <a:avLst/>
          </a:prstGeom>
          <a:noFill/>
          <a:ln w="12700">
            <a:solidFill>
              <a:srgbClr val="3A46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93408" y="2340864"/>
            <a:ext cx="1280160" cy="1280160"/>
          </a:xfrm>
          <a:prstGeom prst="ellipse">
            <a:avLst/>
          </a:prstGeom>
          <a:noFill/>
          <a:ln w="12700">
            <a:solidFill>
              <a:srgbClr val="3A46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3712463"/>
            <a:ext cx="1280160" cy="182880"/>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co-likers N(u)</a:t>
            </a:r>
          </a:p>
        </p:txBody>
      </p:sp>
      <p:sp>
        <p:nvSpPr>
          <p:cNvPr id="11" name="TextBox 10"/>
          <p:cNvSpPr txBox="1"/>
          <p:nvPr/>
        </p:nvSpPr>
        <p:spPr>
          <a:xfrm>
            <a:off x="6784848" y="3712463"/>
            <a:ext cx="1280160" cy="182880"/>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audience A(m)</a:t>
            </a:r>
          </a:p>
        </p:txBody>
      </p:sp>
      <p:sp>
        <p:nvSpPr>
          <p:cNvPr id="12" name="TextBox 11"/>
          <p:cNvSpPr txBox="1"/>
          <p:nvPr/>
        </p:nvSpPr>
        <p:spPr>
          <a:xfrm>
            <a:off x="6611112" y="2834639"/>
            <a:ext cx="365760" cy="292608"/>
          </a:xfrm>
          <a:prstGeom prst="rect">
            <a:avLst/>
          </a:prstGeom>
          <a:noFill/>
        </p:spPr>
        <p:txBody>
          <a:bodyPr wrap="square" lIns="0" tIns="0" rIns="0" bIns="0" anchor="t">
            <a:spAutoFit/>
          </a:bodyPr>
          <a:lstStyle/>
          <a:p>
            <a:pPr algn="l">
              <a:lnSpc>
                <a:spcPct val="125000"/>
              </a:lnSpc>
              <a:spcBef>
                <a:spcPts val="0"/>
              </a:spcBef>
              <a:spcAft>
                <a:spcPts val="0"/>
              </a:spcAft>
            </a:pPr>
            <a:r>
              <a:rPr sz="1500" b="0" i="0">
                <a:solidFill>
                  <a:srgbClr val="4D92FF"/>
                </a:solidFill>
                <a:latin typeface="IBM Plex Serif"/>
              </a:rPr>
              <a:t>E</a:t>
            </a:r>
          </a:p>
        </p:txBody>
      </p:sp>
      <p:sp>
        <p:nvSpPr>
          <p:cNvPr id="13" name="TextBox 12"/>
          <p:cNvSpPr txBox="1"/>
          <p:nvPr/>
        </p:nvSpPr>
        <p:spPr>
          <a:xfrm>
            <a:off x="6035040" y="2029968"/>
            <a:ext cx="393192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echo  E = |A(m) ∩ N(u)| / |A(m)|</a:t>
            </a:r>
          </a:p>
        </p:txBody>
      </p:sp>
      <p:sp>
        <p:nvSpPr>
          <p:cNvPr id="14" name="TextBox 13"/>
          <p:cNvSpPr txBox="1"/>
          <p:nvPr/>
        </p:nvSpPr>
        <p:spPr>
          <a:xfrm>
            <a:off x="8540496" y="2125979"/>
            <a:ext cx="15131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The Matrix  225 / 239</a:t>
            </a:r>
          </a:p>
        </p:txBody>
      </p:sp>
      <p:sp>
        <p:nvSpPr>
          <p:cNvPr id="15" name="TextBox 14"/>
          <p:cNvSpPr txBox="1"/>
          <p:nvPr/>
        </p:nvSpPr>
        <p:spPr>
          <a:xfrm>
            <a:off x="10181661" y="2112263"/>
            <a:ext cx="115689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0.941</a:t>
            </a:r>
          </a:p>
        </p:txBody>
      </p:sp>
      <p:cxnSp>
        <p:nvCxnSpPr>
          <p:cNvPr id="16" name="Connector 15"/>
          <p:cNvCxnSpPr/>
          <p:nvPr/>
        </p:nvCxnSpPr>
        <p:spPr>
          <a:xfrm>
            <a:off x="8540496" y="2327148"/>
            <a:ext cx="279806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540496" y="2414015"/>
            <a:ext cx="15131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median viewer</a:t>
            </a:r>
          </a:p>
        </p:txBody>
      </p:sp>
      <p:sp>
        <p:nvSpPr>
          <p:cNvPr id="18" name="TextBox 17"/>
          <p:cNvSpPr txBox="1"/>
          <p:nvPr/>
        </p:nvSpPr>
        <p:spPr>
          <a:xfrm>
            <a:off x="10181661" y="2400299"/>
            <a:ext cx="115689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0.055</a:t>
            </a:r>
          </a:p>
        </p:txBody>
      </p:sp>
      <p:cxnSp>
        <p:nvCxnSpPr>
          <p:cNvPr id="19" name="Connector 18"/>
          <p:cNvCxnSpPr/>
          <p:nvPr/>
        </p:nvCxnSpPr>
        <p:spPr>
          <a:xfrm>
            <a:off x="8540496" y="2615184"/>
            <a:ext cx="279806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540496" y="2702051"/>
            <a:ext cx="15131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highest viewer</a:t>
            </a:r>
          </a:p>
        </p:txBody>
      </p:sp>
      <p:sp>
        <p:nvSpPr>
          <p:cNvPr id="21" name="TextBox 20"/>
          <p:cNvSpPr txBox="1"/>
          <p:nvPr/>
        </p:nvSpPr>
        <p:spPr>
          <a:xfrm>
            <a:off x="10181661" y="2688335"/>
            <a:ext cx="115689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0.100</a:t>
            </a:r>
          </a:p>
        </p:txBody>
      </p:sp>
      <p:cxnSp>
        <p:nvCxnSpPr>
          <p:cNvPr id="22" name="Connector 21"/>
          <p:cNvCxnSpPr/>
          <p:nvPr/>
        </p:nvCxnSpPr>
        <p:spPr>
          <a:xfrm>
            <a:off x="8540496" y="2903220"/>
            <a:ext cx="279806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3387852"/>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triangles</a:t>
            </a:r>
          </a:p>
        </p:txBody>
      </p:sp>
      <p:sp>
        <p:nvSpPr>
          <p:cNvPr id="24" name="TextBox 23"/>
          <p:cNvSpPr txBox="1"/>
          <p:nvPr/>
        </p:nvSpPr>
        <p:spPr>
          <a:xfrm>
            <a:off x="3473805" y="3374136"/>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5,487</a:t>
            </a:r>
          </a:p>
        </p:txBody>
      </p:sp>
      <p:cxnSp>
        <p:nvCxnSpPr>
          <p:cNvPr id="25" name="Connector 24"/>
          <p:cNvCxnSpPr/>
          <p:nvPr/>
        </p:nvCxnSpPr>
        <p:spPr>
          <a:xfrm>
            <a:off x="777240" y="358902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367588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clustering coefficient</a:t>
            </a:r>
          </a:p>
        </p:txBody>
      </p:sp>
      <p:sp>
        <p:nvSpPr>
          <p:cNvPr id="27" name="TextBox 26"/>
          <p:cNvSpPr txBox="1"/>
          <p:nvPr/>
        </p:nvSpPr>
        <p:spPr>
          <a:xfrm>
            <a:off x="3473805" y="366217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0.1676</a:t>
            </a:r>
          </a:p>
        </p:txBody>
      </p:sp>
      <p:cxnSp>
        <p:nvCxnSpPr>
          <p:cNvPr id="28" name="Connector 27"/>
          <p:cNvCxnSpPr/>
          <p:nvPr/>
        </p:nvCxnSpPr>
        <p:spPr>
          <a:xfrm>
            <a:off x="777240" y="387705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963924"/>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girth</a:t>
            </a:r>
          </a:p>
        </p:txBody>
      </p:sp>
      <p:sp>
        <p:nvSpPr>
          <p:cNvPr id="30" name="TextBox 29"/>
          <p:cNvSpPr txBox="1"/>
          <p:nvPr/>
        </p:nvSpPr>
        <p:spPr>
          <a:xfrm>
            <a:off x="3473805" y="3950208"/>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3</a:t>
            </a:r>
          </a:p>
        </p:txBody>
      </p:sp>
      <p:cxnSp>
        <p:nvCxnSpPr>
          <p:cNvPr id="31" name="Connector 30"/>
          <p:cNvCxnSpPr/>
          <p:nvPr/>
        </p:nvCxnSpPr>
        <p:spPr>
          <a:xfrm>
            <a:off x="777240" y="416509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4251960"/>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4-cycles through The Matrix</a:t>
            </a:r>
          </a:p>
        </p:txBody>
      </p:sp>
      <p:sp>
        <p:nvSpPr>
          <p:cNvPr id="33" name="TextBox 32"/>
          <p:cNvSpPr txBox="1"/>
          <p:nvPr/>
        </p:nvSpPr>
        <p:spPr>
          <a:xfrm>
            <a:off x="3473805" y="4238244"/>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1,124</a:t>
            </a:r>
          </a:p>
        </p:txBody>
      </p:sp>
      <p:cxnSp>
        <p:nvCxnSpPr>
          <p:cNvPr id="34" name="Connector 33"/>
          <p:cNvCxnSpPr/>
          <p:nvPr/>
        </p:nvCxnSpPr>
        <p:spPr>
          <a:xfrm>
            <a:off x="777240" y="445312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 y="4539996"/>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novelty 1 / (1 + E)</a:t>
            </a:r>
          </a:p>
        </p:txBody>
      </p:sp>
      <p:sp>
        <p:nvSpPr>
          <p:cNvPr id="36" name="TextBox 35"/>
          <p:cNvSpPr txBox="1"/>
          <p:nvPr/>
        </p:nvSpPr>
        <p:spPr>
          <a:xfrm>
            <a:off x="3473805" y="4526280"/>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0.515</a:t>
            </a:r>
          </a:p>
        </p:txBody>
      </p:sp>
      <p:cxnSp>
        <p:nvCxnSpPr>
          <p:cNvPr id="37" name="Connector 36"/>
          <p:cNvCxnSpPr/>
          <p:nvPr/>
        </p:nvCxnSpPr>
        <p:spPr>
          <a:xfrm>
            <a:off x="777240" y="474116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035040" y="3913632"/>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Girth 3 says triangles exist, so the projected graph is not bipartite — the projection of a bipartite graph never is. Five and a half thousand triangles at a clustering coefficient of 0.168 is a graph in which two titles that share a neighbour usually share several.</a:t>
            </a:r>
          </a:p>
        </p:txBody>
      </p:sp>
      <p:sp>
        <p:nvSpPr>
          <p:cNvPr id="39" name="TextBox 38"/>
          <p:cNvSpPr txBox="1"/>
          <p:nvPr/>
        </p:nvSpPr>
        <p:spPr>
          <a:xfrm>
            <a:off x="6035040" y="5138928"/>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E for The Matrix is 225 / 239: the viewer's immediate neighbourhood already covers 94% of its audience. Its novelty factor is 0.515 — the score halves what the cycle count alone would pay.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Weighted graph · C043</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The score multiplies three terms, each a graph fact</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7 / 14</a:t>
            </a:r>
          </a:p>
        </p:txBody>
      </p:sp>
      <p:sp>
        <p:nvSpPr>
          <p:cNvPr id="7" name="TextBox 6"/>
          <p:cNvSpPr txBox="1"/>
          <p:nvPr/>
        </p:nvSpPr>
        <p:spPr>
          <a:xfrm>
            <a:off x="777240" y="1645920"/>
            <a:ext cx="10607040" cy="640080"/>
          </a:xfrm>
          <a:prstGeom prst="rect">
            <a:avLst/>
          </a:prstGeom>
          <a:noFill/>
        </p:spPr>
        <p:txBody>
          <a:bodyPr wrap="square" lIns="0" tIns="0" rIns="0" bIns="0" anchor="t">
            <a:spAutoFit/>
          </a:bodyPr>
          <a:lstStyle/>
          <a:p>
            <a:pPr algn="l">
              <a:lnSpc>
                <a:spcPct val="125000"/>
              </a:lnSpc>
              <a:spcBef>
                <a:spcPts val="0"/>
              </a:spcBef>
              <a:spcAft>
                <a:spcPts val="0"/>
              </a:spcAft>
            </a:pPr>
            <a:r>
              <a:rPr sz="3000" b="0" i="0">
                <a:solidFill>
                  <a:srgbClr val="E1E3E7"/>
                </a:solidFill>
                <a:latin typeface="IBM Plex Serif"/>
              </a:rPr>
              <a:t>S  =  </a:t>
            </a:r>
            <a:r>
              <a:rPr sz="2600" b="0" i="0">
                <a:solidFill>
                  <a:srgbClr val="B2B9C6"/>
                </a:solidFill>
                <a:latin typeface="IBM Plex Mono"/>
              </a:rPr>
              <a:t>(1 + ln(1 + P))</a:t>
            </a:r>
            <a:r>
              <a:rPr sz="3000" b="0" i="0">
                <a:solidFill>
                  <a:srgbClr val="E1E3E7"/>
                </a:solidFill>
                <a:latin typeface="IBM Plex Serif"/>
              </a:rPr>
              <a:t>  ×  </a:t>
            </a:r>
            <a:r>
              <a:rPr sz="2600" b="0" i="0">
                <a:solidFill>
                  <a:srgbClr val="B2B9C6"/>
                </a:solidFill>
                <a:latin typeface="IBM Plex Mono"/>
              </a:rPr>
              <a:t>d</a:t>
            </a:r>
            <a:r>
              <a:rPr sz="1500" b="0" i="0" baseline="30000">
                <a:solidFill>
                  <a:srgbClr val="B2B9C6"/>
                </a:solidFill>
                <a:latin typeface="IBM Plex Mono"/>
              </a:rPr>
              <a:t>0.35</a:t>
            </a:r>
            <a:r>
              <a:rPr sz="3000" b="0" i="0">
                <a:solidFill>
                  <a:srgbClr val="E1E3E7"/>
                </a:solidFill>
                <a:latin typeface="IBM Plex Serif"/>
              </a:rPr>
              <a:t>  ×  </a:t>
            </a:r>
            <a:r>
              <a:rPr sz="2600" b="0" i="0">
                <a:solidFill>
                  <a:srgbClr val="B2B9C6"/>
                </a:solidFill>
                <a:latin typeface="IBM Plex Mono"/>
              </a:rPr>
              <a:t>1 / (1 + E)</a:t>
            </a:r>
          </a:p>
        </p:txBody>
      </p:sp>
      <p:cxnSp>
        <p:nvCxnSpPr>
          <p:cNvPr id="8" name="Connector 7"/>
          <p:cNvCxnSpPr/>
          <p:nvPr/>
        </p:nvCxnSpPr>
        <p:spPr>
          <a:xfrm>
            <a:off x="777240" y="2395728"/>
            <a:ext cx="10634472"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560320"/>
            <a:ext cx="3246120" cy="201168"/>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E1E3E7"/>
                </a:solidFill>
                <a:latin typeface="IBM Plex Serif"/>
              </a:rPr>
              <a:t>support</a:t>
            </a:r>
          </a:p>
        </p:txBody>
      </p:sp>
      <p:sp>
        <p:nvSpPr>
          <p:cNvPr id="10" name="TextBox 9"/>
          <p:cNvSpPr txBox="1"/>
          <p:nvPr/>
        </p:nvSpPr>
        <p:spPr>
          <a:xfrm>
            <a:off x="777240" y="2798064"/>
            <a:ext cx="3246120" cy="6400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distinct 4-cycles through the candidate, logged because the tail is long</a:t>
            </a:r>
          </a:p>
        </p:txBody>
      </p:sp>
      <p:sp>
        <p:nvSpPr>
          <p:cNvPr id="11" name="TextBox 10"/>
          <p:cNvSpPr txBox="1"/>
          <p:nvPr/>
        </p:nvSpPr>
        <p:spPr>
          <a:xfrm>
            <a:off x="4361688" y="2560320"/>
            <a:ext cx="3246120" cy="201168"/>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E1E3E7"/>
                </a:solidFill>
                <a:latin typeface="IBM Plex Serif"/>
              </a:rPr>
              <a:t>popularity</a:t>
            </a:r>
          </a:p>
        </p:txBody>
      </p:sp>
      <p:sp>
        <p:nvSpPr>
          <p:cNvPr id="12" name="TextBox 11"/>
          <p:cNvSpPr txBox="1"/>
          <p:nvPr/>
        </p:nvSpPr>
        <p:spPr>
          <a:xfrm>
            <a:off x="4361688" y="2798064"/>
            <a:ext cx="3246120" cy="6400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audience size, damped by α = 0.35 so reach alone does not decide</a:t>
            </a:r>
          </a:p>
        </p:txBody>
      </p:sp>
      <p:sp>
        <p:nvSpPr>
          <p:cNvPr id="13" name="TextBox 12"/>
          <p:cNvSpPr txBox="1"/>
          <p:nvPr/>
        </p:nvSpPr>
        <p:spPr>
          <a:xfrm>
            <a:off x="7946136" y="2560320"/>
            <a:ext cx="3246120" cy="201168"/>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E1E3E7"/>
                </a:solidFill>
                <a:latin typeface="IBM Plex Serif"/>
              </a:rPr>
              <a:t>novelty</a:t>
            </a:r>
          </a:p>
        </p:txBody>
      </p:sp>
      <p:sp>
        <p:nvSpPr>
          <p:cNvPr id="14" name="TextBox 13"/>
          <p:cNvSpPr txBox="1"/>
          <p:nvPr/>
        </p:nvSpPr>
        <p:spPr>
          <a:xfrm>
            <a:off x="7946136" y="2798064"/>
            <a:ext cx="3246120" cy="6400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the echo share, inverted — agreement already banked pays less</a:t>
            </a:r>
          </a:p>
        </p:txBody>
      </p:sp>
      <p:sp>
        <p:nvSpPr>
          <p:cNvPr id="15" name="TextBox 14"/>
          <p:cNvSpPr txBox="1"/>
          <p:nvPr/>
        </p:nvSpPr>
        <p:spPr>
          <a:xfrm>
            <a:off x="777240" y="3675887"/>
            <a:ext cx="5852160" cy="201168"/>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E1E3E7"/>
                </a:solidFill>
                <a:latin typeface="IBM Plex Serif"/>
              </a:rPr>
              <a:t>Worked, The Matrix, viewer 498</a:t>
            </a:r>
          </a:p>
        </p:txBody>
      </p:sp>
      <p:sp>
        <p:nvSpPr>
          <p:cNvPr id="16" name="TextBox 15"/>
          <p:cNvSpPr txBox="1"/>
          <p:nvPr/>
        </p:nvSpPr>
        <p:spPr>
          <a:xfrm>
            <a:off x="777240" y="3986783"/>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P  cycle count</a:t>
            </a:r>
          </a:p>
        </p:txBody>
      </p:sp>
      <p:sp>
        <p:nvSpPr>
          <p:cNvPr id="17" name="TextBox 16"/>
          <p:cNvSpPr txBox="1"/>
          <p:nvPr/>
        </p:nvSpPr>
        <p:spPr>
          <a:xfrm>
            <a:off x="3886200" y="3986783"/>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1,124</a:t>
            </a:r>
          </a:p>
        </p:txBody>
      </p:sp>
      <p:cxnSp>
        <p:nvCxnSpPr>
          <p:cNvPr id="18" name="Connector 17"/>
          <p:cNvCxnSpPr/>
          <p:nvPr/>
        </p:nvCxnSpPr>
        <p:spPr>
          <a:xfrm>
            <a:off x="777240" y="4233671"/>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283964"/>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1 + ln(1 + P)</a:t>
            </a:r>
          </a:p>
        </p:txBody>
      </p:sp>
      <p:sp>
        <p:nvSpPr>
          <p:cNvPr id="20" name="TextBox 19"/>
          <p:cNvSpPr txBox="1"/>
          <p:nvPr/>
        </p:nvSpPr>
        <p:spPr>
          <a:xfrm>
            <a:off x="3886200" y="4283964"/>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8.026</a:t>
            </a:r>
          </a:p>
        </p:txBody>
      </p:sp>
      <p:cxnSp>
        <p:nvCxnSpPr>
          <p:cNvPr id="21" name="Connector 20"/>
          <p:cNvCxnSpPr/>
          <p:nvPr/>
        </p:nvCxnSpPr>
        <p:spPr>
          <a:xfrm>
            <a:off x="777240" y="4530852"/>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581144"/>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d  audience</a:t>
            </a:r>
          </a:p>
        </p:txBody>
      </p:sp>
      <p:sp>
        <p:nvSpPr>
          <p:cNvPr id="23" name="TextBox 22"/>
          <p:cNvSpPr txBox="1"/>
          <p:nvPr/>
        </p:nvSpPr>
        <p:spPr>
          <a:xfrm>
            <a:off x="3886200" y="4581144"/>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239</a:t>
            </a:r>
          </a:p>
        </p:txBody>
      </p:sp>
      <p:cxnSp>
        <p:nvCxnSpPr>
          <p:cNvPr id="24" name="Connector 23"/>
          <p:cNvCxnSpPr/>
          <p:nvPr/>
        </p:nvCxnSpPr>
        <p:spPr>
          <a:xfrm>
            <a:off x="777240" y="4828031"/>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7240" y="4878323"/>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d^0.35</a:t>
            </a:r>
          </a:p>
        </p:txBody>
      </p:sp>
      <p:sp>
        <p:nvSpPr>
          <p:cNvPr id="26" name="TextBox 25"/>
          <p:cNvSpPr txBox="1"/>
          <p:nvPr/>
        </p:nvSpPr>
        <p:spPr>
          <a:xfrm>
            <a:off x="3886200" y="4878323"/>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6.799</a:t>
            </a:r>
          </a:p>
        </p:txBody>
      </p:sp>
      <p:cxnSp>
        <p:nvCxnSpPr>
          <p:cNvPr id="27" name="Connector 26"/>
          <p:cNvCxnSpPr/>
          <p:nvPr/>
        </p:nvCxnSpPr>
        <p:spPr>
          <a:xfrm>
            <a:off x="777240" y="5125211"/>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5175503"/>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E  echo</a:t>
            </a:r>
          </a:p>
        </p:txBody>
      </p:sp>
      <p:sp>
        <p:nvSpPr>
          <p:cNvPr id="29" name="TextBox 28"/>
          <p:cNvSpPr txBox="1"/>
          <p:nvPr/>
        </p:nvSpPr>
        <p:spPr>
          <a:xfrm>
            <a:off x="3886200" y="5175503"/>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0.941</a:t>
            </a:r>
          </a:p>
        </p:txBody>
      </p:sp>
      <p:cxnSp>
        <p:nvCxnSpPr>
          <p:cNvPr id="30" name="Connector 29"/>
          <p:cNvCxnSpPr/>
          <p:nvPr/>
        </p:nvCxnSpPr>
        <p:spPr>
          <a:xfrm>
            <a:off x="777240" y="5422392"/>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472683"/>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7B8494"/>
                </a:solidFill>
                <a:latin typeface="IBM Plex Mono"/>
              </a:rPr>
              <a:t>1 / (1 + E)</a:t>
            </a:r>
          </a:p>
        </p:txBody>
      </p:sp>
      <p:sp>
        <p:nvSpPr>
          <p:cNvPr id="32" name="TextBox 31"/>
          <p:cNvSpPr txBox="1"/>
          <p:nvPr/>
        </p:nvSpPr>
        <p:spPr>
          <a:xfrm>
            <a:off x="3886200" y="5472683"/>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E1E3E7"/>
                </a:solidFill>
                <a:latin typeface="IBM Plex Mono"/>
              </a:rPr>
              <a:t>0.515</a:t>
            </a:r>
          </a:p>
        </p:txBody>
      </p:sp>
      <p:cxnSp>
        <p:nvCxnSpPr>
          <p:cNvPr id="33" name="Connector 32"/>
          <p:cNvCxnSpPr/>
          <p:nvPr/>
        </p:nvCxnSpPr>
        <p:spPr>
          <a:xfrm>
            <a:off x="777240" y="5719571"/>
            <a:ext cx="4480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5769864"/>
            <a:ext cx="310896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1" i="0">
                <a:solidFill>
                  <a:srgbClr val="E1E3E7"/>
                </a:solidFill>
                <a:latin typeface="IBM Plex Sans"/>
              </a:rPr>
              <a:t>S</a:t>
            </a:r>
          </a:p>
        </p:txBody>
      </p:sp>
      <p:sp>
        <p:nvSpPr>
          <p:cNvPr id="35" name="TextBox 34"/>
          <p:cNvSpPr txBox="1"/>
          <p:nvPr/>
        </p:nvSpPr>
        <p:spPr>
          <a:xfrm>
            <a:off x="3886200" y="5769864"/>
            <a:ext cx="1371600" cy="219456"/>
          </a:xfrm>
          <a:prstGeom prst="rect">
            <a:avLst/>
          </a:prstGeom>
          <a:noFill/>
        </p:spPr>
        <p:txBody>
          <a:bodyPr wrap="square" lIns="0" tIns="0" rIns="0" bIns="0" anchor="t">
            <a:spAutoFit/>
          </a:bodyPr>
          <a:lstStyle/>
          <a:p>
            <a:pPr algn="l">
              <a:lnSpc>
                <a:spcPct val="125000"/>
              </a:lnSpc>
              <a:spcBef>
                <a:spcPts val="0"/>
              </a:spcBef>
              <a:spcAft>
                <a:spcPts val="0"/>
              </a:spcAft>
            </a:pPr>
            <a:r>
              <a:rPr sz="1150" b="1" i="0">
                <a:solidFill>
                  <a:srgbClr val="4D92FF"/>
                </a:solidFill>
                <a:latin typeface="IBM Plex Mono"/>
              </a:rPr>
              <a:t>28.106</a:t>
            </a:r>
          </a:p>
        </p:txBody>
      </p:sp>
      <p:cxnSp>
        <p:nvCxnSpPr>
          <p:cNvPr id="36" name="Connector 35"/>
          <p:cNvCxnSpPr/>
          <p:nvPr/>
        </p:nvCxnSpPr>
        <p:spPr>
          <a:xfrm>
            <a:off x="777240" y="6016752"/>
            <a:ext cx="4480560"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46520" y="3712463"/>
            <a:ext cx="2194560" cy="502920"/>
          </a:xfrm>
          <a:prstGeom prst="rect">
            <a:avLst/>
          </a:prstGeom>
          <a:noFill/>
        </p:spPr>
        <p:txBody>
          <a:bodyPr wrap="square" lIns="0" tIns="0" rIns="0" bIns="0" anchor="t">
            <a:spAutoFit/>
          </a:bodyPr>
          <a:lstStyle/>
          <a:p>
            <a:pPr algn="l">
              <a:lnSpc>
                <a:spcPct val="125000"/>
              </a:lnSpc>
              <a:spcBef>
                <a:spcPts val="0"/>
              </a:spcBef>
              <a:spcAft>
                <a:spcPts val="0"/>
              </a:spcAft>
            </a:pPr>
            <a:r>
              <a:rPr sz="3400" b="0" i="0">
                <a:solidFill>
                  <a:srgbClr val="E1E3E7"/>
                </a:solidFill>
                <a:latin typeface="IBM Plex Serif"/>
              </a:rPr>
              <a:t>1st</a:t>
            </a:r>
          </a:p>
        </p:txBody>
      </p:sp>
      <p:sp>
        <p:nvSpPr>
          <p:cNvPr id="38" name="TextBox 37"/>
          <p:cNvSpPr txBox="1"/>
          <p:nvPr/>
        </p:nvSpPr>
        <p:spPr>
          <a:xfrm>
            <a:off x="6446520" y="4169663"/>
            <a:ext cx="2194560" cy="329184"/>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7B8494"/>
                </a:solidFill>
                <a:latin typeface="IBM Plex Sans"/>
              </a:rPr>
              <a:t>rank of 1,416 candidates</a:t>
            </a:r>
          </a:p>
        </p:txBody>
      </p:sp>
      <p:sp>
        <p:nvSpPr>
          <p:cNvPr id="39" name="TextBox 38"/>
          <p:cNvSpPr txBox="1"/>
          <p:nvPr/>
        </p:nvSpPr>
        <p:spPr>
          <a:xfrm>
            <a:off x="8823960" y="3712463"/>
            <a:ext cx="2377440" cy="502920"/>
          </a:xfrm>
          <a:prstGeom prst="rect">
            <a:avLst/>
          </a:prstGeom>
          <a:noFill/>
        </p:spPr>
        <p:txBody>
          <a:bodyPr wrap="square" lIns="0" tIns="0" rIns="0" bIns="0" anchor="t">
            <a:spAutoFit/>
          </a:bodyPr>
          <a:lstStyle/>
          <a:p>
            <a:pPr algn="l">
              <a:lnSpc>
                <a:spcPct val="125000"/>
              </a:lnSpc>
              <a:spcBef>
                <a:spcPts val="0"/>
              </a:spcBef>
              <a:spcAft>
                <a:spcPts val="0"/>
              </a:spcAft>
            </a:pPr>
            <a:r>
              <a:rPr sz="3400" b="0" i="0">
                <a:solidFill>
                  <a:srgbClr val="E1E3E7"/>
                </a:solidFill>
                <a:latin typeface="IBM Plex Serif"/>
              </a:rPr>
              <a:t>3rd</a:t>
            </a:r>
          </a:p>
        </p:txBody>
      </p:sp>
      <p:sp>
        <p:nvSpPr>
          <p:cNvPr id="40" name="TextBox 39"/>
          <p:cNvSpPr txBox="1"/>
          <p:nvPr/>
        </p:nvSpPr>
        <p:spPr>
          <a:xfrm>
            <a:off x="8823960" y="4169663"/>
            <a:ext cx="2377440" cy="329184"/>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7B8494"/>
                </a:solidFill>
                <a:latin typeface="IBM Plex Sans"/>
              </a:rPr>
              <a:t>popularity rank, for contrast</a:t>
            </a:r>
          </a:p>
        </p:txBody>
      </p:sp>
      <p:sp>
        <p:nvSpPr>
          <p:cNvPr id="41" name="TextBox 40"/>
          <p:cNvSpPr txBox="1"/>
          <p:nvPr/>
        </p:nvSpPr>
        <p:spPr>
          <a:xfrm>
            <a:off x="6446520" y="4791456"/>
            <a:ext cx="457200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8.026 × 6.799 × 0.515 = 28.106. The app prints the three factors under every score, so a viewer can see which one carried it.</a:t>
            </a:r>
          </a:p>
        </p:txBody>
      </p:sp>
      <p:sp>
        <p:nvSpPr>
          <p:cNvPr id="42" name="TextBox 41"/>
          <p:cNvSpPr txBox="1"/>
          <p:nvPr/>
        </p:nvSpPr>
        <p:spPr>
          <a:xfrm>
            <a:off x="6446520" y="5358384"/>
            <a:ext cx="493776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Third on raw audience, first on the score: the 0.35 exponent is what stops the most-watched title from winning by default, and the 1,124 cycles are what put it on top.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Eulerian graphs · C044</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Euler's theorem says no, and the degrees say why</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8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Two genres are adjacent when a title carries both, so each title with two or more genres contributes one edge — a multigraph of 1,212 edges over 19 vertices. An Eulerian circuit needs every degree even. Ten of the nineteen are odd, so the theorem refuses the walk outright.</a:t>
            </a:r>
          </a:p>
        </p:txBody>
      </p:sp>
      <p:sp>
        <p:nvSpPr>
          <p:cNvPr id="8" name="TextBox 7"/>
          <p:cNvSpPr txBox="1"/>
          <p:nvPr/>
        </p:nvSpPr>
        <p:spPr>
          <a:xfrm>
            <a:off x="5989320" y="1627632"/>
            <a:ext cx="475488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Genre degree  ·  odd vertices in blue</a:t>
            </a:r>
          </a:p>
        </p:txBody>
      </p:sp>
      <p:sp>
        <p:nvSpPr>
          <p:cNvPr id="9" name="TextBox 8"/>
          <p:cNvSpPr txBox="1"/>
          <p:nvPr/>
        </p:nvSpPr>
        <p:spPr>
          <a:xfrm>
            <a:off x="5989320" y="1883664"/>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Drama</a:t>
            </a:r>
          </a:p>
        </p:txBody>
      </p:sp>
      <p:sp>
        <p:nvSpPr>
          <p:cNvPr id="10" name="TextBox 9"/>
          <p:cNvSpPr txBox="1"/>
          <p:nvPr/>
        </p:nvSpPr>
        <p:spPr>
          <a:xfrm>
            <a:off x="7470648" y="1883664"/>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461</a:t>
            </a:r>
          </a:p>
        </p:txBody>
      </p:sp>
      <p:sp>
        <p:nvSpPr>
          <p:cNvPr id="11" name="Rectangle 10"/>
          <p:cNvSpPr/>
          <p:nvPr/>
        </p:nvSpPr>
        <p:spPr>
          <a:xfrm>
            <a:off x="8202167" y="1924812"/>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5048" y="1883664"/>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13" name="TextBox 12"/>
          <p:cNvSpPr txBox="1"/>
          <p:nvPr/>
        </p:nvSpPr>
        <p:spPr>
          <a:xfrm>
            <a:off x="5989320" y="2071116"/>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Comedy</a:t>
            </a:r>
          </a:p>
        </p:txBody>
      </p:sp>
      <p:sp>
        <p:nvSpPr>
          <p:cNvPr id="14" name="TextBox 13"/>
          <p:cNvSpPr txBox="1"/>
          <p:nvPr/>
        </p:nvSpPr>
        <p:spPr>
          <a:xfrm>
            <a:off x="7470648" y="2071116"/>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358</a:t>
            </a:r>
          </a:p>
        </p:txBody>
      </p:sp>
      <p:sp>
        <p:nvSpPr>
          <p:cNvPr id="15" name="Rectangle 14"/>
          <p:cNvSpPr/>
          <p:nvPr/>
        </p:nvSpPr>
        <p:spPr>
          <a:xfrm>
            <a:off x="8202167" y="2112264"/>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2071116"/>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17" name="TextBox 16"/>
          <p:cNvSpPr txBox="1"/>
          <p:nvPr/>
        </p:nvSpPr>
        <p:spPr>
          <a:xfrm>
            <a:off x="5989320" y="2258568"/>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Thriller</a:t>
            </a:r>
          </a:p>
        </p:txBody>
      </p:sp>
      <p:sp>
        <p:nvSpPr>
          <p:cNvPr id="18" name="TextBox 17"/>
          <p:cNvSpPr txBox="1"/>
          <p:nvPr/>
        </p:nvSpPr>
        <p:spPr>
          <a:xfrm>
            <a:off x="7470648" y="2258568"/>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54</a:t>
            </a:r>
          </a:p>
        </p:txBody>
      </p:sp>
      <p:sp>
        <p:nvSpPr>
          <p:cNvPr id="19" name="Rectangle 18"/>
          <p:cNvSpPr/>
          <p:nvPr/>
        </p:nvSpPr>
        <p:spPr>
          <a:xfrm>
            <a:off x="8202167" y="2299716"/>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5048" y="2258568"/>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21" name="TextBox 20"/>
          <p:cNvSpPr txBox="1"/>
          <p:nvPr/>
        </p:nvSpPr>
        <p:spPr>
          <a:xfrm>
            <a:off x="5989320" y="2446020"/>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Action</a:t>
            </a:r>
          </a:p>
        </p:txBody>
      </p:sp>
      <p:sp>
        <p:nvSpPr>
          <p:cNvPr id="22" name="TextBox 21"/>
          <p:cNvSpPr txBox="1"/>
          <p:nvPr/>
        </p:nvSpPr>
        <p:spPr>
          <a:xfrm>
            <a:off x="7470648" y="2446020"/>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427</a:t>
            </a:r>
          </a:p>
        </p:txBody>
      </p:sp>
      <p:sp>
        <p:nvSpPr>
          <p:cNvPr id="23" name="Rectangle 22"/>
          <p:cNvSpPr/>
          <p:nvPr/>
        </p:nvSpPr>
        <p:spPr>
          <a:xfrm>
            <a:off x="8202167" y="2487168"/>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85048" y="2446020"/>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25" name="TextBox 24"/>
          <p:cNvSpPr txBox="1"/>
          <p:nvPr/>
        </p:nvSpPr>
        <p:spPr>
          <a:xfrm>
            <a:off x="5989320" y="2633472"/>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Romance</a:t>
            </a:r>
          </a:p>
        </p:txBody>
      </p:sp>
      <p:sp>
        <p:nvSpPr>
          <p:cNvPr id="26" name="TextBox 25"/>
          <p:cNvSpPr txBox="1"/>
          <p:nvPr/>
        </p:nvSpPr>
        <p:spPr>
          <a:xfrm>
            <a:off x="7470648" y="2633472"/>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122</a:t>
            </a:r>
          </a:p>
        </p:txBody>
      </p:sp>
      <p:sp>
        <p:nvSpPr>
          <p:cNvPr id="27" name="Rectangle 26"/>
          <p:cNvSpPr/>
          <p:nvPr/>
        </p:nvSpPr>
        <p:spPr>
          <a:xfrm>
            <a:off x="8202167" y="2674620"/>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5048" y="2633472"/>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29" name="TextBox 28"/>
          <p:cNvSpPr txBox="1"/>
          <p:nvPr/>
        </p:nvSpPr>
        <p:spPr>
          <a:xfrm>
            <a:off x="5989320" y="2820924"/>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Adventure</a:t>
            </a:r>
          </a:p>
        </p:txBody>
      </p:sp>
      <p:sp>
        <p:nvSpPr>
          <p:cNvPr id="30" name="TextBox 29"/>
          <p:cNvSpPr txBox="1"/>
          <p:nvPr/>
        </p:nvSpPr>
        <p:spPr>
          <a:xfrm>
            <a:off x="7470648" y="2820924"/>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339</a:t>
            </a:r>
          </a:p>
        </p:txBody>
      </p:sp>
      <p:sp>
        <p:nvSpPr>
          <p:cNvPr id="31" name="Rectangle 30"/>
          <p:cNvSpPr/>
          <p:nvPr/>
        </p:nvSpPr>
        <p:spPr>
          <a:xfrm>
            <a:off x="8202167" y="2862072"/>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5048" y="2820924"/>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33" name="TextBox 32"/>
          <p:cNvSpPr txBox="1"/>
          <p:nvPr/>
        </p:nvSpPr>
        <p:spPr>
          <a:xfrm>
            <a:off x="5989320" y="3008376"/>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Crime</a:t>
            </a:r>
          </a:p>
        </p:txBody>
      </p:sp>
      <p:sp>
        <p:nvSpPr>
          <p:cNvPr id="34" name="TextBox 33"/>
          <p:cNvSpPr txBox="1"/>
          <p:nvPr/>
        </p:nvSpPr>
        <p:spPr>
          <a:xfrm>
            <a:off x="7470648" y="3008376"/>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197</a:t>
            </a:r>
          </a:p>
        </p:txBody>
      </p:sp>
      <p:sp>
        <p:nvSpPr>
          <p:cNvPr id="35" name="Rectangle 34"/>
          <p:cNvSpPr/>
          <p:nvPr/>
        </p:nvSpPr>
        <p:spPr>
          <a:xfrm>
            <a:off x="8202167" y="3049524"/>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85048" y="3008376"/>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37" name="TextBox 36"/>
          <p:cNvSpPr txBox="1"/>
          <p:nvPr/>
        </p:nvSpPr>
        <p:spPr>
          <a:xfrm>
            <a:off x="5989320" y="3195828"/>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Sci-Fi</a:t>
            </a:r>
          </a:p>
        </p:txBody>
      </p:sp>
      <p:sp>
        <p:nvSpPr>
          <p:cNvPr id="38" name="TextBox 37"/>
          <p:cNvSpPr txBox="1"/>
          <p:nvPr/>
        </p:nvSpPr>
        <p:spPr>
          <a:xfrm>
            <a:off x="7470648" y="3195828"/>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68</a:t>
            </a:r>
          </a:p>
        </p:txBody>
      </p:sp>
      <p:sp>
        <p:nvSpPr>
          <p:cNvPr id="39" name="Rectangle 38"/>
          <p:cNvSpPr/>
          <p:nvPr/>
        </p:nvSpPr>
        <p:spPr>
          <a:xfrm>
            <a:off x="8202167" y="3236976"/>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5048" y="3195828"/>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41" name="TextBox 40"/>
          <p:cNvSpPr txBox="1"/>
          <p:nvPr/>
        </p:nvSpPr>
        <p:spPr>
          <a:xfrm>
            <a:off x="5989320" y="3383280"/>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Horror</a:t>
            </a:r>
          </a:p>
        </p:txBody>
      </p:sp>
      <p:sp>
        <p:nvSpPr>
          <p:cNvPr id="42" name="TextBox 41"/>
          <p:cNvSpPr txBox="1"/>
          <p:nvPr/>
        </p:nvSpPr>
        <p:spPr>
          <a:xfrm>
            <a:off x="7470648" y="3383280"/>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61</a:t>
            </a:r>
          </a:p>
        </p:txBody>
      </p:sp>
      <p:sp>
        <p:nvSpPr>
          <p:cNvPr id="43" name="Rectangle 42"/>
          <p:cNvSpPr/>
          <p:nvPr/>
        </p:nvSpPr>
        <p:spPr>
          <a:xfrm>
            <a:off x="8202167" y="3424428"/>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85048" y="3383280"/>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45" name="TextBox 44"/>
          <p:cNvSpPr txBox="1"/>
          <p:nvPr/>
        </p:nvSpPr>
        <p:spPr>
          <a:xfrm>
            <a:off x="5989320" y="3570732"/>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Fantasy</a:t>
            </a:r>
          </a:p>
        </p:txBody>
      </p:sp>
      <p:sp>
        <p:nvSpPr>
          <p:cNvPr id="46" name="TextBox 45"/>
          <p:cNvSpPr txBox="1"/>
          <p:nvPr/>
        </p:nvSpPr>
        <p:spPr>
          <a:xfrm>
            <a:off x="7470648" y="3570732"/>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42</a:t>
            </a:r>
          </a:p>
        </p:txBody>
      </p:sp>
      <p:sp>
        <p:nvSpPr>
          <p:cNvPr id="47" name="Rectangle 46"/>
          <p:cNvSpPr/>
          <p:nvPr/>
        </p:nvSpPr>
        <p:spPr>
          <a:xfrm>
            <a:off x="8202167" y="3611880"/>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85048" y="3570732"/>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49" name="TextBox 48"/>
          <p:cNvSpPr txBox="1"/>
          <p:nvPr/>
        </p:nvSpPr>
        <p:spPr>
          <a:xfrm>
            <a:off x="5989320" y="3758183"/>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Children</a:t>
            </a:r>
          </a:p>
        </p:txBody>
      </p:sp>
      <p:sp>
        <p:nvSpPr>
          <p:cNvPr id="50" name="TextBox 49"/>
          <p:cNvSpPr txBox="1"/>
          <p:nvPr/>
        </p:nvSpPr>
        <p:spPr>
          <a:xfrm>
            <a:off x="7470648" y="3758183"/>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72</a:t>
            </a:r>
          </a:p>
        </p:txBody>
      </p:sp>
      <p:sp>
        <p:nvSpPr>
          <p:cNvPr id="51" name="Rectangle 50"/>
          <p:cNvSpPr/>
          <p:nvPr/>
        </p:nvSpPr>
        <p:spPr>
          <a:xfrm>
            <a:off x="8202167" y="3799331"/>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5048" y="3758183"/>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53" name="TextBox 52"/>
          <p:cNvSpPr txBox="1"/>
          <p:nvPr/>
        </p:nvSpPr>
        <p:spPr>
          <a:xfrm>
            <a:off x="5989320" y="3945635"/>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Animation</a:t>
            </a:r>
          </a:p>
        </p:txBody>
      </p:sp>
      <p:sp>
        <p:nvSpPr>
          <p:cNvPr id="54" name="TextBox 53"/>
          <p:cNvSpPr txBox="1"/>
          <p:nvPr/>
        </p:nvSpPr>
        <p:spPr>
          <a:xfrm>
            <a:off x="7470648" y="3945635"/>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99</a:t>
            </a:r>
          </a:p>
        </p:txBody>
      </p:sp>
      <p:sp>
        <p:nvSpPr>
          <p:cNvPr id="55" name="Rectangle 54"/>
          <p:cNvSpPr/>
          <p:nvPr/>
        </p:nvSpPr>
        <p:spPr>
          <a:xfrm>
            <a:off x="8202167" y="3986783"/>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85048" y="3945635"/>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57" name="TextBox 56"/>
          <p:cNvSpPr txBox="1"/>
          <p:nvPr/>
        </p:nvSpPr>
        <p:spPr>
          <a:xfrm>
            <a:off x="5989320" y="4133087"/>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Mystery</a:t>
            </a:r>
          </a:p>
        </p:txBody>
      </p:sp>
      <p:sp>
        <p:nvSpPr>
          <p:cNvPr id="58" name="TextBox 57"/>
          <p:cNvSpPr txBox="1"/>
          <p:nvPr/>
        </p:nvSpPr>
        <p:spPr>
          <a:xfrm>
            <a:off x="7470648" y="4133087"/>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64</a:t>
            </a:r>
          </a:p>
        </p:txBody>
      </p:sp>
      <p:sp>
        <p:nvSpPr>
          <p:cNvPr id="59" name="Rectangle 58"/>
          <p:cNvSpPr/>
          <p:nvPr/>
        </p:nvSpPr>
        <p:spPr>
          <a:xfrm>
            <a:off x="8202167" y="4174235"/>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85048" y="4133087"/>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61" name="TextBox 60"/>
          <p:cNvSpPr txBox="1"/>
          <p:nvPr/>
        </p:nvSpPr>
        <p:spPr>
          <a:xfrm>
            <a:off x="5989320" y="4320540"/>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Documentary</a:t>
            </a:r>
          </a:p>
        </p:txBody>
      </p:sp>
      <p:sp>
        <p:nvSpPr>
          <p:cNvPr id="62" name="TextBox 61"/>
          <p:cNvSpPr txBox="1"/>
          <p:nvPr/>
        </p:nvSpPr>
        <p:spPr>
          <a:xfrm>
            <a:off x="7470648" y="4320540"/>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4</a:t>
            </a:r>
          </a:p>
        </p:txBody>
      </p:sp>
      <p:sp>
        <p:nvSpPr>
          <p:cNvPr id="63" name="Rectangle 62"/>
          <p:cNvSpPr/>
          <p:nvPr/>
        </p:nvSpPr>
        <p:spPr>
          <a:xfrm>
            <a:off x="8202167" y="4361688"/>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85048" y="4320540"/>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65" name="TextBox 64"/>
          <p:cNvSpPr txBox="1"/>
          <p:nvPr/>
        </p:nvSpPr>
        <p:spPr>
          <a:xfrm>
            <a:off x="5989320" y="4507992"/>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War</a:t>
            </a:r>
          </a:p>
        </p:txBody>
      </p:sp>
      <p:sp>
        <p:nvSpPr>
          <p:cNvPr id="66" name="TextBox 65"/>
          <p:cNvSpPr txBox="1"/>
          <p:nvPr/>
        </p:nvSpPr>
        <p:spPr>
          <a:xfrm>
            <a:off x="7470648" y="4507992"/>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21</a:t>
            </a:r>
          </a:p>
        </p:txBody>
      </p:sp>
      <p:sp>
        <p:nvSpPr>
          <p:cNvPr id="67" name="Rectangle 66"/>
          <p:cNvSpPr/>
          <p:nvPr/>
        </p:nvSpPr>
        <p:spPr>
          <a:xfrm>
            <a:off x="8202167" y="4549140"/>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385048" y="4507992"/>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69" name="TextBox 68"/>
          <p:cNvSpPr txBox="1"/>
          <p:nvPr/>
        </p:nvSpPr>
        <p:spPr>
          <a:xfrm>
            <a:off x="5989320" y="4695444"/>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Musical</a:t>
            </a:r>
          </a:p>
        </p:txBody>
      </p:sp>
      <p:sp>
        <p:nvSpPr>
          <p:cNvPr id="70" name="TextBox 69"/>
          <p:cNvSpPr txBox="1"/>
          <p:nvPr/>
        </p:nvSpPr>
        <p:spPr>
          <a:xfrm>
            <a:off x="7470648" y="4695444"/>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15</a:t>
            </a:r>
          </a:p>
        </p:txBody>
      </p:sp>
      <p:sp>
        <p:nvSpPr>
          <p:cNvPr id="71" name="Rectangle 70"/>
          <p:cNvSpPr/>
          <p:nvPr/>
        </p:nvSpPr>
        <p:spPr>
          <a:xfrm>
            <a:off x="8202167" y="4736592"/>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85048" y="4695444"/>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73" name="TextBox 72"/>
          <p:cNvSpPr txBox="1"/>
          <p:nvPr/>
        </p:nvSpPr>
        <p:spPr>
          <a:xfrm>
            <a:off x="5989320" y="4882896"/>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Western</a:t>
            </a:r>
          </a:p>
        </p:txBody>
      </p:sp>
      <p:sp>
        <p:nvSpPr>
          <p:cNvPr id="74" name="TextBox 73"/>
          <p:cNvSpPr txBox="1"/>
          <p:nvPr/>
        </p:nvSpPr>
        <p:spPr>
          <a:xfrm>
            <a:off x="7470648" y="4882896"/>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9</a:t>
            </a:r>
          </a:p>
        </p:txBody>
      </p:sp>
      <p:sp>
        <p:nvSpPr>
          <p:cNvPr id="75" name="Rectangle 74"/>
          <p:cNvSpPr/>
          <p:nvPr/>
        </p:nvSpPr>
        <p:spPr>
          <a:xfrm>
            <a:off x="8202167" y="4924044"/>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85048" y="4882896"/>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77" name="TextBox 76"/>
          <p:cNvSpPr txBox="1"/>
          <p:nvPr/>
        </p:nvSpPr>
        <p:spPr>
          <a:xfrm>
            <a:off x="5989320" y="5070348"/>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E1E3E7"/>
                </a:solidFill>
                <a:latin typeface="IBM Plex Sans"/>
              </a:rPr>
              <a:t>IMAX</a:t>
            </a:r>
          </a:p>
        </p:txBody>
      </p:sp>
      <p:sp>
        <p:nvSpPr>
          <p:cNvPr id="78" name="TextBox 77"/>
          <p:cNvSpPr txBox="1"/>
          <p:nvPr/>
        </p:nvSpPr>
        <p:spPr>
          <a:xfrm>
            <a:off x="7470648" y="5070348"/>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4D92FF"/>
                </a:solidFill>
                <a:latin typeface="IBM Plex Mono"/>
              </a:rPr>
              <a:t>1</a:t>
            </a:r>
          </a:p>
        </p:txBody>
      </p:sp>
      <p:sp>
        <p:nvSpPr>
          <p:cNvPr id="79" name="Rectangle 78"/>
          <p:cNvSpPr/>
          <p:nvPr/>
        </p:nvSpPr>
        <p:spPr>
          <a:xfrm>
            <a:off x="8202167" y="5111496"/>
            <a:ext cx="82296" cy="82296"/>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385048" y="5070348"/>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7B8494"/>
                </a:solidFill>
                <a:latin typeface="IBM Plex Sans"/>
              </a:rPr>
              <a:t>odd</a:t>
            </a:r>
          </a:p>
        </p:txBody>
      </p:sp>
      <p:sp>
        <p:nvSpPr>
          <p:cNvPr id="81" name="TextBox 80"/>
          <p:cNvSpPr txBox="1"/>
          <p:nvPr/>
        </p:nvSpPr>
        <p:spPr>
          <a:xfrm>
            <a:off x="5989320" y="5257800"/>
            <a:ext cx="1554480"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7B8494"/>
                </a:solidFill>
                <a:latin typeface="IBM Plex Sans"/>
              </a:rPr>
              <a:t>Film-Noir</a:t>
            </a:r>
          </a:p>
        </p:txBody>
      </p:sp>
      <p:sp>
        <p:nvSpPr>
          <p:cNvPr id="82" name="TextBox 81"/>
          <p:cNvSpPr txBox="1"/>
          <p:nvPr/>
        </p:nvSpPr>
        <p:spPr>
          <a:xfrm>
            <a:off x="7470648" y="5257800"/>
            <a:ext cx="566928" cy="173736"/>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10</a:t>
            </a:r>
          </a:p>
        </p:txBody>
      </p:sp>
      <p:sp>
        <p:nvSpPr>
          <p:cNvPr id="83" name="Rectangle 82"/>
          <p:cNvSpPr/>
          <p:nvPr/>
        </p:nvSpPr>
        <p:spPr>
          <a:xfrm>
            <a:off x="8202167" y="5298948"/>
            <a:ext cx="82296" cy="82296"/>
          </a:xfrm>
          <a:prstGeom prst="rect">
            <a:avLst/>
          </a:prstGeom>
          <a:solidFill>
            <a:srgbClr val="2A3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385048" y="5257800"/>
            <a:ext cx="1005840" cy="173736"/>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Sans"/>
              </a:rPr>
              <a:t>even</a:t>
            </a:r>
          </a:p>
        </p:txBody>
      </p:sp>
      <p:sp>
        <p:nvSpPr>
          <p:cNvPr id="85" name="TextBox 84"/>
          <p:cNvSpPr txBox="1"/>
          <p:nvPr/>
        </p:nvSpPr>
        <p:spPr>
          <a:xfrm>
            <a:off x="9006840" y="1700784"/>
            <a:ext cx="2194560" cy="182880"/>
          </a:xfrm>
          <a:prstGeom prst="rect">
            <a:avLst/>
          </a:prstGeom>
          <a:noFill/>
        </p:spPr>
        <p:txBody>
          <a:bodyPr wrap="square" lIns="0" tIns="0" rIns="0" bIns="0" anchor="t">
            <a:spAutoFit/>
          </a:bodyPr>
          <a:lstStyle/>
          <a:p>
            <a:pPr algn="l">
              <a:lnSpc>
                <a:spcPct val="125000"/>
              </a:lnSpc>
              <a:spcBef>
                <a:spcPts val="0"/>
              </a:spcBef>
              <a:spcAft>
                <a:spcPts val="0"/>
              </a:spcAft>
            </a:pPr>
            <a:r>
              <a:rPr sz="950" b="0" i="1">
                <a:solidFill>
                  <a:srgbClr val="7B8494"/>
                </a:solidFill>
                <a:latin typeface="IBM Plex Serif"/>
              </a:rPr>
              <a:t>Euler's condition</a:t>
            </a:r>
          </a:p>
        </p:txBody>
      </p:sp>
      <p:sp>
        <p:nvSpPr>
          <p:cNvPr id="86" name="TextBox 85"/>
          <p:cNvSpPr txBox="1"/>
          <p:nvPr/>
        </p:nvSpPr>
        <p:spPr>
          <a:xfrm>
            <a:off x="9006840" y="1975104"/>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7B8494"/>
                </a:solidFill>
                <a:latin typeface="IBM Plex Sans"/>
              </a:rPr>
              <a:t>connected</a:t>
            </a:r>
          </a:p>
        </p:txBody>
      </p:sp>
      <p:sp>
        <p:nvSpPr>
          <p:cNvPr id="87" name="TextBox 86"/>
          <p:cNvSpPr txBox="1"/>
          <p:nvPr/>
        </p:nvSpPr>
        <p:spPr>
          <a:xfrm>
            <a:off x="9006840" y="2167128"/>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3FBF6F"/>
                </a:solidFill>
                <a:latin typeface="IBM Plex Mono"/>
              </a:rPr>
              <a:t>yes</a:t>
            </a:r>
          </a:p>
        </p:txBody>
      </p:sp>
      <p:cxnSp>
        <p:nvCxnSpPr>
          <p:cNvPr id="88" name="Connector 87"/>
          <p:cNvCxnSpPr/>
          <p:nvPr/>
        </p:nvCxnSpPr>
        <p:spPr>
          <a:xfrm>
            <a:off x="9006840" y="2432304"/>
            <a:ext cx="2194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006840" y="2578608"/>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7B8494"/>
                </a:solidFill>
                <a:latin typeface="IBM Plex Sans"/>
              </a:rPr>
              <a:t>all degrees even</a:t>
            </a:r>
          </a:p>
        </p:txBody>
      </p:sp>
      <p:sp>
        <p:nvSpPr>
          <p:cNvPr id="90" name="TextBox 89"/>
          <p:cNvSpPr txBox="1"/>
          <p:nvPr/>
        </p:nvSpPr>
        <p:spPr>
          <a:xfrm>
            <a:off x="9006840" y="2770632"/>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D9655F"/>
                </a:solidFill>
                <a:latin typeface="IBM Plex Mono"/>
              </a:rPr>
              <a:t>no — ten odd</a:t>
            </a:r>
          </a:p>
        </p:txBody>
      </p:sp>
      <p:cxnSp>
        <p:nvCxnSpPr>
          <p:cNvPr id="91" name="Connector 90"/>
          <p:cNvCxnSpPr/>
          <p:nvPr/>
        </p:nvCxnSpPr>
        <p:spPr>
          <a:xfrm>
            <a:off x="9006840" y="3035808"/>
            <a:ext cx="2194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006840" y="3182112"/>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7B8494"/>
                </a:solidFill>
                <a:latin typeface="IBM Plex Sans"/>
              </a:rPr>
              <a:t>Eulerian circuit</a:t>
            </a:r>
          </a:p>
        </p:txBody>
      </p:sp>
      <p:sp>
        <p:nvSpPr>
          <p:cNvPr id="93" name="TextBox 92"/>
          <p:cNvSpPr txBox="1"/>
          <p:nvPr/>
        </p:nvSpPr>
        <p:spPr>
          <a:xfrm>
            <a:off x="9006840" y="3374136"/>
            <a:ext cx="22860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D9655F"/>
                </a:solidFill>
                <a:latin typeface="IBM Plex Mono"/>
              </a:rPr>
              <a:t>none exists</a:t>
            </a:r>
          </a:p>
        </p:txBody>
      </p:sp>
      <p:cxnSp>
        <p:nvCxnSpPr>
          <p:cNvPr id="94" name="Connector 93"/>
          <p:cNvCxnSpPr/>
          <p:nvPr/>
        </p:nvCxnSpPr>
        <p:spPr>
          <a:xfrm>
            <a:off x="9006840" y="3639312"/>
            <a:ext cx="219456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77240" y="3808476"/>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genre vertices</a:t>
            </a:r>
          </a:p>
        </p:txBody>
      </p:sp>
      <p:sp>
        <p:nvSpPr>
          <p:cNvPr id="96" name="TextBox 95"/>
          <p:cNvSpPr txBox="1"/>
          <p:nvPr/>
        </p:nvSpPr>
        <p:spPr>
          <a:xfrm>
            <a:off x="3473805" y="3794760"/>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19</a:t>
            </a:r>
          </a:p>
        </p:txBody>
      </p:sp>
      <p:cxnSp>
        <p:nvCxnSpPr>
          <p:cNvPr id="97" name="Connector 96"/>
          <p:cNvCxnSpPr/>
          <p:nvPr/>
        </p:nvCxnSpPr>
        <p:spPr>
          <a:xfrm>
            <a:off x="777240" y="400964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777240" y="4096512"/>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edges  (titles with ≥ 2 genres)</a:t>
            </a:r>
          </a:p>
        </p:txBody>
      </p:sp>
      <p:sp>
        <p:nvSpPr>
          <p:cNvPr id="99" name="TextBox 98"/>
          <p:cNvSpPr txBox="1"/>
          <p:nvPr/>
        </p:nvSpPr>
        <p:spPr>
          <a:xfrm>
            <a:off x="3473805" y="4082796"/>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1,212</a:t>
            </a:r>
          </a:p>
        </p:txBody>
      </p:sp>
      <p:cxnSp>
        <p:nvCxnSpPr>
          <p:cNvPr id="100" name="Connector 99"/>
          <p:cNvCxnSpPr/>
          <p:nvPr/>
        </p:nvCxnSpPr>
        <p:spPr>
          <a:xfrm>
            <a:off x="777240" y="429768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77240" y="438454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sum of degrees</a:t>
            </a:r>
          </a:p>
        </p:txBody>
      </p:sp>
      <p:sp>
        <p:nvSpPr>
          <p:cNvPr id="102" name="TextBox 101"/>
          <p:cNvSpPr txBox="1"/>
          <p:nvPr/>
        </p:nvSpPr>
        <p:spPr>
          <a:xfrm>
            <a:off x="3473805" y="437083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2,424 = 2 × 1,212</a:t>
            </a:r>
          </a:p>
        </p:txBody>
      </p:sp>
      <p:cxnSp>
        <p:nvCxnSpPr>
          <p:cNvPr id="103" name="Connector 102"/>
          <p:cNvCxnSpPr/>
          <p:nvPr/>
        </p:nvCxnSpPr>
        <p:spPr>
          <a:xfrm>
            <a:off x="777240" y="458571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777240" y="4672584"/>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odd-degree vertices</a:t>
            </a:r>
          </a:p>
        </p:txBody>
      </p:sp>
      <p:sp>
        <p:nvSpPr>
          <p:cNvPr id="105" name="TextBox 104"/>
          <p:cNvSpPr txBox="1"/>
          <p:nvPr/>
        </p:nvSpPr>
        <p:spPr>
          <a:xfrm>
            <a:off x="3473805" y="4658868"/>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10</a:t>
            </a:r>
          </a:p>
        </p:txBody>
      </p:sp>
      <p:cxnSp>
        <p:nvCxnSpPr>
          <p:cNvPr id="106" name="Connector 105"/>
          <p:cNvCxnSpPr/>
          <p:nvPr/>
        </p:nvCxnSpPr>
        <p:spPr>
          <a:xfrm>
            <a:off x="777240" y="487375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777240" y="4960620"/>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largest degree</a:t>
            </a:r>
          </a:p>
        </p:txBody>
      </p:sp>
      <p:sp>
        <p:nvSpPr>
          <p:cNvPr id="108" name="TextBox 107"/>
          <p:cNvSpPr txBox="1"/>
          <p:nvPr/>
        </p:nvSpPr>
        <p:spPr>
          <a:xfrm>
            <a:off x="3473805" y="4946904"/>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Drama, 461</a:t>
            </a:r>
          </a:p>
        </p:txBody>
      </p:sp>
      <p:cxnSp>
        <p:nvCxnSpPr>
          <p:cNvPr id="109" name="Connector 108"/>
          <p:cNvCxnSpPr/>
          <p:nvPr/>
        </p:nvCxnSpPr>
        <p:spPr>
          <a:xfrm>
            <a:off x="777240" y="516178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777240" y="5230368"/>
            <a:ext cx="461772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By the handshaking lemma the number of odd vertices must be even, and ten is. That parity is not a coincidence and not a problem — it is the exact quantity the next slide has to spend edges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Eulerian graphs · C044</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Ten odd vertices, five pairs, nine duplicated edges</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9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Pair the ten odd vertices by shortest distance in the underlying simple graph, then duplicate every edge along each connecting path. Parity flips at both ends of the path, all degrees become even, and Hierholzer's algorithm returns the circuit.</a:t>
            </a:r>
          </a:p>
        </p:txBody>
      </p:sp>
      <p:sp>
        <p:nvSpPr>
          <p:cNvPr id="8" name="TextBox 7"/>
          <p:cNvSpPr txBox="1"/>
          <p:nvPr/>
        </p:nvSpPr>
        <p:spPr>
          <a:xfrm>
            <a:off x="777240" y="3145536"/>
            <a:ext cx="45720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Odd pairing  ·  distance added</a:t>
            </a:r>
          </a:p>
        </p:txBody>
      </p:sp>
      <p:sp>
        <p:nvSpPr>
          <p:cNvPr id="9" name="TextBox 8"/>
          <p:cNvSpPr txBox="1"/>
          <p:nvPr/>
        </p:nvSpPr>
        <p:spPr>
          <a:xfrm>
            <a:off x="777240" y="3401568"/>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Drama — Action</a:t>
            </a:r>
          </a:p>
        </p:txBody>
      </p:sp>
      <p:sp>
        <p:nvSpPr>
          <p:cNvPr id="10" name="TextBox 9"/>
          <p:cNvSpPr txBox="1"/>
          <p:nvPr/>
        </p:nvSpPr>
        <p:spPr>
          <a:xfrm>
            <a:off x="3154680" y="3401568"/>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+1 edge</a:t>
            </a:r>
          </a:p>
        </p:txBody>
      </p:sp>
      <p:cxnSp>
        <p:nvCxnSpPr>
          <p:cNvPr id="11" name="Connector 10"/>
          <p:cNvCxnSpPr/>
          <p:nvPr/>
        </p:nvCxnSpPr>
        <p:spPr>
          <a:xfrm>
            <a:off x="777240" y="3630168"/>
            <a:ext cx="37490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3675888"/>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Adventure — Crime</a:t>
            </a:r>
          </a:p>
        </p:txBody>
      </p:sp>
      <p:sp>
        <p:nvSpPr>
          <p:cNvPr id="13" name="TextBox 12"/>
          <p:cNvSpPr txBox="1"/>
          <p:nvPr/>
        </p:nvSpPr>
        <p:spPr>
          <a:xfrm>
            <a:off x="3154680" y="3675888"/>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+1 edge</a:t>
            </a:r>
          </a:p>
        </p:txBody>
      </p:sp>
      <p:cxnSp>
        <p:nvCxnSpPr>
          <p:cNvPr id="14" name="Connector 13"/>
          <p:cNvCxnSpPr/>
          <p:nvPr/>
        </p:nvCxnSpPr>
        <p:spPr>
          <a:xfrm>
            <a:off x="777240" y="3904488"/>
            <a:ext cx="37490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950208"/>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Horror — Animation</a:t>
            </a:r>
          </a:p>
        </p:txBody>
      </p:sp>
      <p:sp>
        <p:nvSpPr>
          <p:cNvPr id="16" name="TextBox 15"/>
          <p:cNvSpPr txBox="1"/>
          <p:nvPr/>
        </p:nvSpPr>
        <p:spPr>
          <a:xfrm>
            <a:off x="3154680" y="3950208"/>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+2 edges</a:t>
            </a:r>
          </a:p>
        </p:txBody>
      </p:sp>
      <p:cxnSp>
        <p:nvCxnSpPr>
          <p:cNvPr id="17" name="Connector 16"/>
          <p:cNvCxnSpPr/>
          <p:nvPr/>
        </p:nvCxnSpPr>
        <p:spPr>
          <a:xfrm>
            <a:off x="777240" y="4178808"/>
            <a:ext cx="37490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4224528"/>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War — Musical</a:t>
            </a:r>
          </a:p>
        </p:txBody>
      </p:sp>
      <p:sp>
        <p:nvSpPr>
          <p:cNvPr id="19" name="TextBox 18"/>
          <p:cNvSpPr txBox="1"/>
          <p:nvPr/>
        </p:nvSpPr>
        <p:spPr>
          <a:xfrm>
            <a:off x="3154680" y="4224528"/>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+2 edges</a:t>
            </a:r>
          </a:p>
        </p:txBody>
      </p:sp>
      <p:cxnSp>
        <p:nvCxnSpPr>
          <p:cNvPr id="20" name="Connector 19"/>
          <p:cNvCxnSpPr/>
          <p:nvPr/>
        </p:nvCxnSpPr>
        <p:spPr>
          <a:xfrm>
            <a:off x="777240" y="4453128"/>
            <a:ext cx="37490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4498848"/>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Western — IMAX</a:t>
            </a:r>
          </a:p>
        </p:txBody>
      </p:sp>
      <p:sp>
        <p:nvSpPr>
          <p:cNvPr id="22" name="TextBox 21"/>
          <p:cNvSpPr txBox="1"/>
          <p:nvPr/>
        </p:nvSpPr>
        <p:spPr>
          <a:xfrm>
            <a:off x="3154680" y="4498848"/>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E1E3E7"/>
                </a:solidFill>
                <a:latin typeface="IBM Plex Mono"/>
              </a:rPr>
              <a:t>+3 edges</a:t>
            </a:r>
          </a:p>
        </p:txBody>
      </p:sp>
      <p:cxnSp>
        <p:nvCxnSpPr>
          <p:cNvPr id="23" name="Connector 22"/>
          <p:cNvCxnSpPr/>
          <p:nvPr/>
        </p:nvCxnSpPr>
        <p:spPr>
          <a:xfrm>
            <a:off x="777240" y="4727448"/>
            <a:ext cx="37490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4828032"/>
            <a:ext cx="2286000" cy="201168"/>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7B8494"/>
                </a:solidFill>
                <a:latin typeface="IBM Plex Sans"/>
              </a:rPr>
              <a:t>total added</a:t>
            </a:r>
          </a:p>
        </p:txBody>
      </p:sp>
      <p:sp>
        <p:nvSpPr>
          <p:cNvPr id="25" name="TextBox 24"/>
          <p:cNvSpPr txBox="1"/>
          <p:nvPr/>
        </p:nvSpPr>
        <p:spPr>
          <a:xfrm>
            <a:off x="3154680" y="4828032"/>
            <a:ext cx="137160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4D92FF"/>
                </a:solidFill>
                <a:latin typeface="IBM Plex Mono"/>
              </a:rPr>
              <a:t>+9</a:t>
            </a:r>
          </a:p>
        </p:txBody>
      </p:sp>
      <p:sp>
        <p:nvSpPr>
          <p:cNvPr id="26" name="TextBox 25"/>
          <p:cNvSpPr txBox="1"/>
          <p:nvPr/>
        </p:nvSpPr>
        <p:spPr>
          <a:xfrm>
            <a:off x="5989320" y="1961388"/>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edges before</a:t>
            </a:r>
          </a:p>
        </p:txBody>
      </p:sp>
      <p:sp>
        <p:nvSpPr>
          <p:cNvPr id="27" name="TextBox 26"/>
          <p:cNvSpPr txBox="1"/>
          <p:nvPr/>
        </p:nvSpPr>
        <p:spPr>
          <a:xfrm>
            <a:off x="9115470" y="1947672"/>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1,212</a:t>
            </a:r>
          </a:p>
        </p:txBody>
      </p:sp>
      <p:cxnSp>
        <p:nvCxnSpPr>
          <p:cNvPr id="28" name="Connector 27"/>
          <p:cNvCxnSpPr/>
          <p:nvPr/>
        </p:nvCxnSpPr>
        <p:spPr>
          <a:xfrm>
            <a:off x="5989320" y="2162556"/>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89320" y="2249424"/>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odd vertices</a:t>
            </a:r>
          </a:p>
        </p:txBody>
      </p:sp>
      <p:sp>
        <p:nvSpPr>
          <p:cNvPr id="30" name="TextBox 29"/>
          <p:cNvSpPr txBox="1"/>
          <p:nvPr/>
        </p:nvSpPr>
        <p:spPr>
          <a:xfrm>
            <a:off x="9115470" y="2235708"/>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10  →  5 pairs</a:t>
            </a:r>
          </a:p>
        </p:txBody>
      </p:sp>
      <p:cxnSp>
        <p:nvCxnSpPr>
          <p:cNvPr id="31" name="Connector 30"/>
          <p:cNvCxnSpPr/>
          <p:nvPr/>
        </p:nvCxnSpPr>
        <p:spPr>
          <a:xfrm>
            <a:off x="5989320" y="2450592"/>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89320" y="2537460"/>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edges duplicated</a:t>
            </a:r>
          </a:p>
        </p:txBody>
      </p:sp>
      <p:sp>
        <p:nvSpPr>
          <p:cNvPr id="33" name="TextBox 32"/>
          <p:cNvSpPr txBox="1"/>
          <p:nvPr/>
        </p:nvSpPr>
        <p:spPr>
          <a:xfrm>
            <a:off x="9115470" y="2523744"/>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9</a:t>
            </a:r>
          </a:p>
        </p:txBody>
      </p:sp>
      <p:cxnSp>
        <p:nvCxnSpPr>
          <p:cNvPr id="34" name="Connector 33"/>
          <p:cNvCxnSpPr/>
          <p:nvPr/>
        </p:nvCxnSpPr>
        <p:spPr>
          <a:xfrm>
            <a:off x="5989320" y="2738628"/>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89320" y="2825496"/>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edges after</a:t>
            </a:r>
          </a:p>
        </p:txBody>
      </p:sp>
      <p:sp>
        <p:nvSpPr>
          <p:cNvPr id="36" name="TextBox 35"/>
          <p:cNvSpPr txBox="1"/>
          <p:nvPr/>
        </p:nvSpPr>
        <p:spPr>
          <a:xfrm>
            <a:off x="9115470" y="2811779"/>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1,221</a:t>
            </a:r>
          </a:p>
        </p:txBody>
      </p:sp>
      <p:cxnSp>
        <p:nvCxnSpPr>
          <p:cNvPr id="37" name="Connector 36"/>
          <p:cNvCxnSpPr/>
          <p:nvPr/>
        </p:nvCxnSpPr>
        <p:spPr>
          <a:xfrm>
            <a:off x="5989320" y="3026664"/>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89320" y="3113532"/>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all degrees even</a:t>
            </a:r>
          </a:p>
        </p:txBody>
      </p:sp>
      <p:sp>
        <p:nvSpPr>
          <p:cNvPr id="39" name="TextBox 38"/>
          <p:cNvSpPr txBox="1"/>
          <p:nvPr/>
        </p:nvSpPr>
        <p:spPr>
          <a:xfrm>
            <a:off x="9115470" y="3099816"/>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yes</a:t>
            </a:r>
          </a:p>
        </p:txBody>
      </p:sp>
      <p:cxnSp>
        <p:nvCxnSpPr>
          <p:cNvPr id="40" name="Connector 39"/>
          <p:cNvCxnSpPr/>
          <p:nvPr/>
        </p:nvCxnSpPr>
        <p:spPr>
          <a:xfrm>
            <a:off x="5989320" y="3314700"/>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989320" y="3401568"/>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circuit length</a:t>
            </a:r>
          </a:p>
        </p:txBody>
      </p:sp>
      <p:sp>
        <p:nvSpPr>
          <p:cNvPr id="42" name="TextBox 41"/>
          <p:cNvSpPr txBox="1"/>
          <p:nvPr/>
        </p:nvSpPr>
        <p:spPr>
          <a:xfrm>
            <a:off x="9115470" y="3387851"/>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1,221 traversals</a:t>
            </a:r>
          </a:p>
        </p:txBody>
      </p:sp>
      <p:cxnSp>
        <p:nvCxnSpPr>
          <p:cNvPr id="43" name="Connector 42"/>
          <p:cNvCxnSpPr/>
          <p:nvPr/>
        </p:nvCxnSpPr>
        <p:spPr>
          <a:xfrm>
            <a:off x="5989320" y="3602736"/>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989320" y="3689604"/>
            <a:ext cx="2998134"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output</a:t>
            </a:r>
          </a:p>
        </p:txBody>
      </p:sp>
      <p:sp>
        <p:nvSpPr>
          <p:cNvPr id="45" name="TextBox 44"/>
          <p:cNvSpPr txBox="1"/>
          <p:nvPr/>
        </p:nvSpPr>
        <p:spPr>
          <a:xfrm>
            <a:off x="9115470" y="3675888"/>
            <a:ext cx="2232233" cy="219456"/>
          </a:xfrm>
          <a:prstGeom prst="rect">
            <a:avLst/>
          </a:prstGeom>
          <a:noFill/>
        </p:spPr>
        <p:txBody>
          <a:bodyPr wrap="square" lIns="0" tIns="0" rIns="0" bIns="0" anchor="t">
            <a:spAutoFit/>
          </a:bodyPr>
          <a:lstStyle/>
          <a:p>
            <a:pPr algn="r">
              <a:lnSpc>
                <a:spcPct val="125000"/>
              </a:lnSpc>
              <a:spcBef>
                <a:spcPts val="0"/>
              </a:spcBef>
              <a:spcAft>
                <a:spcPts val="0"/>
              </a:spcAft>
            </a:pPr>
            <a:r>
              <a:rPr sz="875" b="0" i="0">
                <a:solidFill>
                  <a:srgbClr val="E1E3E7"/>
                </a:solidFill>
                <a:latin typeface="IBM Plex Mono"/>
              </a:rPr>
              <a:t>a playlist that alternates genres</a:t>
            </a:r>
          </a:p>
        </p:txBody>
      </p:sp>
      <p:cxnSp>
        <p:nvCxnSpPr>
          <p:cNvPr id="46" name="Connector 45"/>
          <p:cNvCxnSpPr/>
          <p:nvPr/>
        </p:nvCxnSpPr>
        <p:spPr>
          <a:xfrm>
            <a:off x="5989320" y="3890772"/>
            <a:ext cx="5358384"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989320" y="4133087"/>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A circuit is a closed walk that uses every edge exactly once — so the playlist never repeats a title, and consecutive titles always share a genre because the walk moves along a genre edge.</a:t>
            </a:r>
          </a:p>
        </p:txBody>
      </p:sp>
      <p:sp>
        <p:nvSpPr>
          <p:cNvPr id="48" name="TextBox 47"/>
          <p:cNvSpPr txBox="1"/>
          <p:nvPr/>
        </p:nvSpPr>
        <p:spPr>
          <a:xfrm>
            <a:off x="5989320" y="4864608"/>
            <a:ext cx="5358384"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the circuit's first eight hops</a:t>
            </a:r>
          </a:p>
        </p:txBody>
      </p:sp>
      <p:sp>
        <p:nvSpPr>
          <p:cNvPr id="49" name="TextBox 48"/>
          <p:cNvSpPr txBox="1"/>
          <p:nvPr/>
        </p:nvSpPr>
        <p:spPr>
          <a:xfrm>
            <a:off x="5989320" y="5102352"/>
            <a:ext cx="5358384" cy="27432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Mono"/>
              </a:rPr>
              <a:t>Adventure  →  Sci-Fi  →  IMAX  →  Sci-Fi  →  Adventure  →  Western  →  Adventure  →  Crime  →  Adventure</a:t>
            </a:r>
          </a:p>
        </p:txBody>
      </p:sp>
      <p:sp>
        <p:nvSpPr>
          <p:cNvPr id="50" name="TextBox 49"/>
          <p:cNvSpPr txBox="1"/>
          <p:nvPr/>
        </p:nvSpPr>
        <p:spPr>
          <a:xfrm>
            <a:off x="5989320" y="5669280"/>
            <a:ext cx="5358384"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Every hop crosses a genre edge, so the playlist can only move to a neighbouring genre — the alternation is the walk, not a rule added on top. Hierholzer runs in time linear in the edges.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Hamiltonian graphs · C044</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A watch order is a Hamiltonian path over the top ten</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10 / 14</a:t>
            </a:r>
          </a:p>
        </p:txBody>
      </p:sp>
      <p:sp>
        <p:nvSpPr>
          <p:cNvPr id="7" name="TextBox 6"/>
          <p:cNvSpPr txBox="1"/>
          <p:nvPr/>
        </p:nvSpPr>
        <p:spPr>
          <a:xfrm>
            <a:off x="777240" y="1645920"/>
            <a:ext cx="448056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Same ten candidates, different question: visit every candidate exactly once, maximising the total similarity along the way. Held–Karp is exact and costs n² · 2ⁿ — 10,240 states for n = 10, which is why the list is ten long.</a:t>
            </a:r>
          </a:p>
        </p:txBody>
      </p:sp>
      <p:sp>
        <p:nvSpPr>
          <p:cNvPr id="8" name="TextBox 7"/>
          <p:cNvSpPr txBox="1"/>
          <p:nvPr/>
        </p:nvSpPr>
        <p:spPr>
          <a:xfrm>
            <a:off x="5522976" y="1682495"/>
            <a:ext cx="402336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Pairwise Jaccard, the ten candidates</a:t>
            </a:r>
          </a:p>
        </p:txBody>
      </p:sp>
      <p:sp>
        <p:nvSpPr>
          <p:cNvPr id="9" name="Rectangle 8"/>
          <p:cNvSpPr/>
          <p:nvPr/>
        </p:nvSpPr>
        <p:spPr>
          <a:xfrm>
            <a:off x="5760720" y="2194560"/>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84748" y="219456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2194560"/>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32804" y="2194560"/>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656831" y="219456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80860" y="219456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04888" y="2194560"/>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28916" y="219456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52944" y="219456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6971" y="2194560"/>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41264" y="2240279"/>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1</a:t>
            </a:r>
          </a:p>
        </p:txBody>
      </p:sp>
      <p:sp>
        <p:nvSpPr>
          <p:cNvPr id="20" name="TextBox 19"/>
          <p:cNvSpPr txBox="1"/>
          <p:nvPr/>
        </p:nvSpPr>
        <p:spPr>
          <a:xfrm>
            <a:off x="5760720"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1</a:t>
            </a:r>
          </a:p>
        </p:txBody>
      </p:sp>
      <p:sp>
        <p:nvSpPr>
          <p:cNvPr id="21" name="Rectangle 20"/>
          <p:cNvSpPr/>
          <p:nvPr/>
        </p:nvSpPr>
        <p:spPr>
          <a:xfrm>
            <a:off x="5760720"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84748" y="2418588"/>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32804"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56831"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80860"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04888"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8916"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52944"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6971" y="241858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41264" y="2464308"/>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2</a:t>
            </a:r>
          </a:p>
        </p:txBody>
      </p:sp>
      <p:sp>
        <p:nvSpPr>
          <p:cNvPr id="32" name="TextBox 31"/>
          <p:cNvSpPr txBox="1"/>
          <p:nvPr/>
        </p:nvSpPr>
        <p:spPr>
          <a:xfrm>
            <a:off x="5984748"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2</a:t>
            </a:r>
          </a:p>
        </p:txBody>
      </p:sp>
      <p:sp>
        <p:nvSpPr>
          <p:cNvPr id="33" name="Rectangle 32"/>
          <p:cNvSpPr/>
          <p:nvPr/>
        </p:nvSpPr>
        <p:spPr>
          <a:xfrm>
            <a:off x="5760720" y="2642615"/>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984748" y="2642615"/>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08776" y="2642615"/>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32804" y="2642615"/>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56831" y="2642615"/>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80860" y="2642615"/>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04888" y="2642615"/>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28916" y="2642615"/>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52944" y="2642615"/>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6971" y="2642615"/>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41264" y="2688335"/>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3</a:t>
            </a:r>
          </a:p>
        </p:txBody>
      </p:sp>
      <p:sp>
        <p:nvSpPr>
          <p:cNvPr id="44" name="TextBox 43"/>
          <p:cNvSpPr txBox="1"/>
          <p:nvPr/>
        </p:nvSpPr>
        <p:spPr>
          <a:xfrm>
            <a:off x="6208776"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3</a:t>
            </a:r>
          </a:p>
        </p:txBody>
      </p:sp>
      <p:sp>
        <p:nvSpPr>
          <p:cNvPr id="45" name="Rectangle 44"/>
          <p:cNvSpPr/>
          <p:nvPr/>
        </p:nvSpPr>
        <p:spPr>
          <a:xfrm>
            <a:off x="5760720" y="2866644"/>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84748" y="2866644"/>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08776" y="2866644"/>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32804" y="2866644"/>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656831" y="2866644"/>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880860" y="2866644"/>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104888" y="2866644"/>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328916" y="2866644"/>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552944" y="2866644"/>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776971" y="2866644"/>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41264" y="2912363"/>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4</a:t>
            </a:r>
          </a:p>
        </p:txBody>
      </p:sp>
      <p:sp>
        <p:nvSpPr>
          <p:cNvPr id="56" name="TextBox 55"/>
          <p:cNvSpPr txBox="1"/>
          <p:nvPr/>
        </p:nvSpPr>
        <p:spPr>
          <a:xfrm>
            <a:off x="6432804"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4</a:t>
            </a:r>
          </a:p>
        </p:txBody>
      </p:sp>
      <p:sp>
        <p:nvSpPr>
          <p:cNvPr id="57" name="Rectangle 56"/>
          <p:cNvSpPr/>
          <p:nvPr/>
        </p:nvSpPr>
        <p:spPr>
          <a:xfrm>
            <a:off x="5760720"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84748"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08776" y="3090672"/>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32804"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656831" y="3090672"/>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880860" y="3090672"/>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104888" y="3090672"/>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328916"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552944"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776971" y="309067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541264" y="3136391"/>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5</a:t>
            </a:r>
          </a:p>
        </p:txBody>
      </p:sp>
      <p:sp>
        <p:nvSpPr>
          <p:cNvPr id="68" name="TextBox 67"/>
          <p:cNvSpPr txBox="1"/>
          <p:nvPr/>
        </p:nvSpPr>
        <p:spPr>
          <a:xfrm>
            <a:off x="6656831"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5</a:t>
            </a:r>
          </a:p>
        </p:txBody>
      </p:sp>
      <p:sp>
        <p:nvSpPr>
          <p:cNvPr id="69" name="Rectangle 68"/>
          <p:cNvSpPr/>
          <p:nvPr/>
        </p:nvSpPr>
        <p:spPr>
          <a:xfrm>
            <a:off x="5760720" y="331470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84748" y="331470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208776"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32804" y="3314700"/>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656831"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880860" y="3314700"/>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104888"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328916"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552944"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776971" y="3314700"/>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541264" y="3360420"/>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6</a:t>
            </a:r>
          </a:p>
        </p:txBody>
      </p:sp>
      <p:sp>
        <p:nvSpPr>
          <p:cNvPr id="80" name="TextBox 79"/>
          <p:cNvSpPr txBox="1"/>
          <p:nvPr/>
        </p:nvSpPr>
        <p:spPr>
          <a:xfrm>
            <a:off x="6880860"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6</a:t>
            </a:r>
          </a:p>
        </p:txBody>
      </p:sp>
      <p:sp>
        <p:nvSpPr>
          <p:cNvPr id="81" name="Rectangle 80"/>
          <p:cNvSpPr/>
          <p:nvPr/>
        </p:nvSpPr>
        <p:spPr>
          <a:xfrm>
            <a:off x="5760720" y="3538728"/>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984748" y="353872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208776" y="3538728"/>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432804" y="353872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656831" y="3538728"/>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880860" y="3538728"/>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104888" y="3538728"/>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328916" y="3538728"/>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552944" y="3538728"/>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776971" y="3538728"/>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541264" y="3584448"/>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7</a:t>
            </a:r>
          </a:p>
        </p:txBody>
      </p:sp>
      <p:sp>
        <p:nvSpPr>
          <p:cNvPr id="92" name="TextBox 91"/>
          <p:cNvSpPr txBox="1"/>
          <p:nvPr/>
        </p:nvSpPr>
        <p:spPr>
          <a:xfrm>
            <a:off x="7104888"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7</a:t>
            </a:r>
          </a:p>
        </p:txBody>
      </p:sp>
      <p:sp>
        <p:nvSpPr>
          <p:cNvPr id="93" name="Rectangle 92"/>
          <p:cNvSpPr/>
          <p:nvPr/>
        </p:nvSpPr>
        <p:spPr>
          <a:xfrm>
            <a:off x="5760720" y="3762756"/>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84748" y="3762756"/>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208776" y="3762756"/>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432804" y="3762756"/>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656831" y="3762756"/>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880860" y="3762756"/>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104888" y="3762756"/>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328916" y="3762756"/>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552944" y="3762756"/>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776971" y="3762756"/>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541264" y="3808476"/>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8</a:t>
            </a:r>
          </a:p>
        </p:txBody>
      </p:sp>
      <p:sp>
        <p:nvSpPr>
          <p:cNvPr id="104" name="TextBox 103"/>
          <p:cNvSpPr txBox="1"/>
          <p:nvPr/>
        </p:nvSpPr>
        <p:spPr>
          <a:xfrm>
            <a:off x="7328916"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8</a:t>
            </a:r>
          </a:p>
        </p:txBody>
      </p:sp>
      <p:sp>
        <p:nvSpPr>
          <p:cNvPr id="105" name="Rectangle 104"/>
          <p:cNvSpPr/>
          <p:nvPr/>
        </p:nvSpPr>
        <p:spPr>
          <a:xfrm>
            <a:off x="5760720"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984748"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208776"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6432804" y="3986783"/>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6656831"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6880860" y="3986783"/>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104888"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328916" y="3986783"/>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552944" y="3986783"/>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776971" y="3986783"/>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41264" y="4032503"/>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9</a:t>
            </a:r>
          </a:p>
        </p:txBody>
      </p:sp>
      <p:sp>
        <p:nvSpPr>
          <p:cNvPr id="116" name="TextBox 115"/>
          <p:cNvSpPr txBox="1"/>
          <p:nvPr/>
        </p:nvSpPr>
        <p:spPr>
          <a:xfrm>
            <a:off x="7552944"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9</a:t>
            </a:r>
          </a:p>
        </p:txBody>
      </p:sp>
      <p:sp>
        <p:nvSpPr>
          <p:cNvPr id="117" name="Rectangle 116"/>
          <p:cNvSpPr/>
          <p:nvPr/>
        </p:nvSpPr>
        <p:spPr>
          <a:xfrm>
            <a:off x="5760720" y="4210812"/>
            <a:ext cx="213055" cy="213055"/>
          </a:xfrm>
          <a:prstGeom prst="rect">
            <a:avLst/>
          </a:prstGeom>
          <a:solidFill>
            <a:srgbClr val="4D9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984748" y="421081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6208776" y="4210812"/>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6432804" y="4210812"/>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656831" y="421081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880860" y="4210812"/>
            <a:ext cx="213055" cy="213055"/>
          </a:xfrm>
          <a:prstGeom prst="rect">
            <a:avLst/>
          </a:prstGeom>
          <a:solidFill>
            <a:srgbClr val="1B4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104888" y="4210812"/>
            <a:ext cx="213055" cy="213055"/>
          </a:xfrm>
          <a:prstGeom prst="rect">
            <a:avLst/>
          </a:prstGeom>
          <a:solidFill>
            <a:srgbClr val="6EA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328916" y="421081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552944" y="4210812"/>
            <a:ext cx="213055" cy="213055"/>
          </a:xfrm>
          <a:prstGeom prst="rect">
            <a:avLst/>
          </a:prstGeom>
          <a:solidFill>
            <a:srgbClr val="2F7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7776971" y="4210812"/>
            <a:ext cx="213055" cy="213055"/>
          </a:xfrm>
          <a:prstGeom prst="rect">
            <a:avLst/>
          </a:prstGeom>
          <a:solidFill>
            <a:srgbClr val="0D11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541264" y="4256532"/>
            <a:ext cx="182880"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10</a:t>
            </a:r>
          </a:p>
        </p:txBody>
      </p:sp>
      <p:sp>
        <p:nvSpPr>
          <p:cNvPr id="128" name="TextBox 127"/>
          <p:cNvSpPr txBox="1"/>
          <p:nvPr/>
        </p:nvSpPr>
        <p:spPr>
          <a:xfrm>
            <a:off x="7776971" y="2011679"/>
            <a:ext cx="224028" cy="146304"/>
          </a:xfrm>
          <a:prstGeom prst="rect">
            <a:avLst/>
          </a:prstGeom>
          <a:noFill/>
        </p:spPr>
        <p:txBody>
          <a:bodyPr wrap="square" lIns="0" tIns="0" rIns="0" bIns="0" anchor="t">
            <a:spAutoFit/>
          </a:bodyPr>
          <a:lstStyle/>
          <a:p>
            <a:pPr algn="l">
              <a:lnSpc>
                <a:spcPct val="125000"/>
              </a:lnSpc>
              <a:spcBef>
                <a:spcPts val="0"/>
              </a:spcBef>
              <a:spcAft>
                <a:spcPts val="0"/>
              </a:spcAft>
            </a:pPr>
            <a:r>
              <a:rPr sz="700" b="0" i="0">
                <a:solidFill>
                  <a:srgbClr val="5D6470"/>
                </a:solidFill>
                <a:latin typeface="IBM Plex Mono"/>
              </a:rPr>
              <a:t>10</a:t>
            </a:r>
          </a:p>
        </p:txBody>
      </p:sp>
      <p:sp>
        <p:nvSpPr>
          <p:cNvPr id="129" name="TextBox 128"/>
          <p:cNvSpPr txBox="1"/>
          <p:nvPr/>
        </p:nvSpPr>
        <p:spPr>
          <a:xfrm>
            <a:off x="8311896" y="1682495"/>
            <a:ext cx="265176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The order</a:t>
            </a:r>
          </a:p>
        </p:txBody>
      </p:sp>
      <p:sp>
        <p:nvSpPr>
          <p:cNvPr id="130" name="TextBox 129"/>
          <p:cNvSpPr txBox="1"/>
          <p:nvPr/>
        </p:nvSpPr>
        <p:spPr>
          <a:xfrm>
            <a:off x="8311896" y="2194560"/>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1</a:t>
            </a:r>
          </a:p>
        </p:txBody>
      </p:sp>
      <p:sp>
        <p:nvSpPr>
          <p:cNvPr id="131" name="TextBox 130"/>
          <p:cNvSpPr txBox="1"/>
          <p:nvPr/>
        </p:nvSpPr>
        <p:spPr>
          <a:xfrm>
            <a:off x="8549640" y="2194560"/>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Terminator 2: Judgment Day</a:t>
            </a:r>
          </a:p>
        </p:txBody>
      </p:sp>
      <p:sp>
        <p:nvSpPr>
          <p:cNvPr id="132" name="TextBox 131"/>
          <p:cNvSpPr txBox="1"/>
          <p:nvPr/>
        </p:nvSpPr>
        <p:spPr>
          <a:xfrm>
            <a:off x="8311896" y="2406700"/>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2</a:t>
            </a:r>
          </a:p>
        </p:txBody>
      </p:sp>
      <p:sp>
        <p:nvSpPr>
          <p:cNvPr id="133" name="TextBox 132"/>
          <p:cNvSpPr txBox="1"/>
          <p:nvPr/>
        </p:nvSpPr>
        <p:spPr>
          <a:xfrm>
            <a:off x="8549640" y="2406700"/>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Star Wars: Episode VI - Return of…</a:t>
            </a:r>
          </a:p>
        </p:txBody>
      </p:sp>
      <p:sp>
        <p:nvSpPr>
          <p:cNvPr id="134" name="TextBox 133"/>
          <p:cNvSpPr txBox="1"/>
          <p:nvPr/>
        </p:nvSpPr>
        <p:spPr>
          <a:xfrm>
            <a:off x="8311896" y="2618841"/>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3</a:t>
            </a:r>
          </a:p>
        </p:txBody>
      </p:sp>
      <p:sp>
        <p:nvSpPr>
          <p:cNvPr id="135" name="TextBox 134"/>
          <p:cNvSpPr txBox="1"/>
          <p:nvPr/>
        </p:nvSpPr>
        <p:spPr>
          <a:xfrm>
            <a:off x="8549640" y="2618841"/>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Star Wars: Episode V - The Empire…</a:t>
            </a:r>
          </a:p>
        </p:txBody>
      </p:sp>
      <p:sp>
        <p:nvSpPr>
          <p:cNvPr id="136" name="TextBox 135"/>
          <p:cNvSpPr txBox="1"/>
          <p:nvPr/>
        </p:nvSpPr>
        <p:spPr>
          <a:xfrm>
            <a:off x="8311896" y="2830982"/>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4</a:t>
            </a:r>
          </a:p>
        </p:txBody>
      </p:sp>
      <p:sp>
        <p:nvSpPr>
          <p:cNvPr id="137" name="TextBox 136"/>
          <p:cNvSpPr txBox="1"/>
          <p:nvPr/>
        </p:nvSpPr>
        <p:spPr>
          <a:xfrm>
            <a:off x="8549640" y="2830982"/>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Star Wars: Episode IV - A New Hope</a:t>
            </a:r>
          </a:p>
        </p:txBody>
      </p:sp>
      <p:sp>
        <p:nvSpPr>
          <p:cNvPr id="138" name="TextBox 137"/>
          <p:cNvSpPr txBox="1"/>
          <p:nvPr/>
        </p:nvSpPr>
        <p:spPr>
          <a:xfrm>
            <a:off x="8311896" y="3043123"/>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5</a:t>
            </a:r>
          </a:p>
        </p:txBody>
      </p:sp>
      <p:sp>
        <p:nvSpPr>
          <p:cNvPr id="139" name="TextBox 138"/>
          <p:cNvSpPr txBox="1"/>
          <p:nvPr/>
        </p:nvSpPr>
        <p:spPr>
          <a:xfrm>
            <a:off x="8549640" y="3043123"/>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Raiders of the Lost Ark (Indiana …</a:t>
            </a:r>
          </a:p>
        </p:txBody>
      </p:sp>
      <p:sp>
        <p:nvSpPr>
          <p:cNvPr id="140" name="TextBox 139"/>
          <p:cNvSpPr txBox="1"/>
          <p:nvPr/>
        </p:nvSpPr>
        <p:spPr>
          <a:xfrm>
            <a:off x="8311896" y="3255264"/>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6</a:t>
            </a:r>
          </a:p>
        </p:txBody>
      </p:sp>
      <p:sp>
        <p:nvSpPr>
          <p:cNvPr id="141" name="TextBox 140"/>
          <p:cNvSpPr txBox="1"/>
          <p:nvPr/>
        </p:nvSpPr>
        <p:spPr>
          <a:xfrm>
            <a:off x="8549640" y="3255264"/>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Matrix, The</a:t>
            </a:r>
          </a:p>
        </p:txBody>
      </p:sp>
      <p:sp>
        <p:nvSpPr>
          <p:cNvPr id="142" name="TextBox 141"/>
          <p:cNvSpPr txBox="1"/>
          <p:nvPr/>
        </p:nvSpPr>
        <p:spPr>
          <a:xfrm>
            <a:off x="8311896" y="3467404"/>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7</a:t>
            </a:r>
          </a:p>
        </p:txBody>
      </p:sp>
      <p:sp>
        <p:nvSpPr>
          <p:cNvPr id="143" name="TextBox 142"/>
          <p:cNvSpPr txBox="1"/>
          <p:nvPr/>
        </p:nvSpPr>
        <p:spPr>
          <a:xfrm>
            <a:off x="8549640" y="3467404"/>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Fight Club</a:t>
            </a:r>
          </a:p>
        </p:txBody>
      </p:sp>
      <p:sp>
        <p:nvSpPr>
          <p:cNvPr id="144" name="TextBox 143"/>
          <p:cNvSpPr txBox="1"/>
          <p:nvPr/>
        </p:nvSpPr>
        <p:spPr>
          <a:xfrm>
            <a:off x="8311896" y="3679545"/>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8</a:t>
            </a:r>
          </a:p>
        </p:txBody>
      </p:sp>
      <p:sp>
        <p:nvSpPr>
          <p:cNvPr id="145" name="TextBox 144"/>
          <p:cNvSpPr txBox="1"/>
          <p:nvPr/>
        </p:nvSpPr>
        <p:spPr>
          <a:xfrm>
            <a:off x="8549640" y="3679545"/>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American Beauty</a:t>
            </a:r>
          </a:p>
        </p:txBody>
      </p:sp>
      <p:sp>
        <p:nvSpPr>
          <p:cNvPr id="146" name="TextBox 145"/>
          <p:cNvSpPr txBox="1"/>
          <p:nvPr/>
        </p:nvSpPr>
        <p:spPr>
          <a:xfrm>
            <a:off x="8311896" y="3891686"/>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9</a:t>
            </a:r>
          </a:p>
        </p:txBody>
      </p:sp>
      <p:sp>
        <p:nvSpPr>
          <p:cNvPr id="147" name="TextBox 146"/>
          <p:cNvSpPr txBox="1"/>
          <p:nvPr/>
        </p:nvSpPr>
        <p:spPr>
          <a:xfrm>
            <a:off x="8549640" y="3891686"/>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Silence of the Lambs, The</a:t>
            </a:r>
          </a:p>
        </p:txBody>
      </p:sp>
      <p:sp>
        <p:nvSpPr>
          <p:cNvPr id="148" name="TextBox 147"/>
          <p:cNvSpPr txBox="1"/>
          <p:nvPr/>
        </p:nvSpPr>
        <p:spPr>
          <a:xfrm>
            <a:off x="8311896" y="4103827"/>
            <a:ext cx="23774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5D6470"/>
                </a:solidFill>
                <a:latin typeface="IBM Plex Mono"/>
              </a:rPr>
              <a:t>10</a:t>
            </a:r>
          </a:p>
        </p:txBody>
      </p:sp>
      <p:sp>
        <p:nvSpPr>
          <p:cNvPr id="149" name="TextBox 148"/>
          <p:cNvSpPr txBox="1"/>
          <p:nvPr/>
        </p:nvSpPr>
        <p:spPr>
          <a:xfrm>
            <a:off x="8549640" y="4103827"/>
            <a:ext cx="2468880" cy="164592"/>
          </a:xfrm>
          <a:prstGeom prst="rect">
            <a:avLst/>
          </a:prstGeom>
          <a:noFill/>
        </p:spPr>
        <p:txBody>
          <a:bodyPr wrap="square" lIns="0" tIns="0" rIns="0" bIns="0" anchor="t">
            <a:spAutoFit/>
          </a:bodyPr>
          <a:lstStyle/>
          <a:p>
            <a:pPr algn="l">
              <a:lnSpc>
                <a:spcPct val="125000"/>
              </a:lnSpc>
              <a:spcBef>
                <a:spcPts val="0"/>
              </a:spcBef>
              <a:spcAft>
                <a:spcPts val="0"/>
              </a:spcAft>
            </a:pPr>
            <a:r>
              <a:rPr sz="819" b="0" i="0">
                <a:solidFill>
                  <a:srgbClr val="B2B9C6"/>
                </a:solidFill>
                <a:latin typeface="IBM Plex Sans"/>
              </a:rPr>
              <a:t>Schindler's List</a:t>
            </a:r>
          </a:p>
        </p:txBody>
      </p:sp>
      <p:sp>
        <p:nvSpPr>
          <p:cNvPr id="150" name="TextBox 149"/>
          <p:cNvSpPr txBox="1"/>
          <p:nvPr/>
        </p:nvSpPr>
        <p:spPr>
          <a:xfrm>
            <a:off x="5760720" y="4942332"/>
            <a:ext cx="312541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optimal total weight</a:t>
            </a:r>
          </a:p>
        </p:txBody>
      </p:sp>
      <p:sp>
        <p:nvSpPr>
          <p:cNvPr id="151" name="TextBox 150"/>
          <p:cNvSpPr txBox="1"/>
          <p:nvPr/>
        </p:nvSpPr>
        <p:spPr>
          <a:xfrm>
            <a:off x="9014155" y="4928616"/>
            <a:ext cx="232440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4.212</a:t>
            </a:r>
          </a:p>
        </p:txBody>
      </p:sp>
      <p:cxnSp>
        <p:nvCxnSpPr>
          <p:cNvPr id="152" name="Connector 151"/>
          <p:cNvCxnSpPr/>
          <p:nvPr/>
        </p:nvCxnSpPr>
        <p:spPr>
          <a:xfrm>
            <a:off x="5760720" y="5129784"/>
            <a:ext cx="55778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5760720" y="5216652"/>
            <a:ext cx="312541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nearest-neighbour baseline</a:t>
            </a:r>
          </a:p>
        </p:txBody>
      </p:sp>
      <p:sp>
        <p:nvSpPr>
          <p:cNvPr id="154" name="TextBox 153"/>
          <p:cNvSpPr txBox="1"/>
          <p:nvPr/>
        </p:nvSpPr>
        <p:spPr>
          <a:xfrm>
            <a:off x="9014155" y="5202936"/>
            <a:ext cx="232440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4.086</a:t>
            </a:r>
          </a:p>
        </p:txBody>
      </p:sp>
      <p:cxnSp>
        <p:nvCxnSpPr>
          <p:cNvPr id="155" name="Connector 154"/>
          <p:cNvCxnSpPr/>
          <p:nvPr/>
        </p:nvCxnSpPr>
        <p:spPr>
          <a:xfrm>
            <a:off x="5760720" y="5404104"/>
            <a:ext cx="55778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5760720" y="5490972"/>
            <a:ext cx="312541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the exact method gains</a:t>
            </a:r>
          </a:p>
        </p:txBody>
      </p:sp>
      <p:sp>
        <p:nvSpPr>
          <p:cNvPr id="157" name="TextBox 156"/>
          <p:cNvSpPr txBox="1"/>
          <p:nvPr/>
        </p:nvSpPr>
        <p:spPr>
          <a:xfrm>
            <a:off x="9014155" y="5477256"/>
            <a:ext cx="232440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+3.1%</a:t>
            </a:r>
          </a:p>
        </p:txBody>
      </p:sp>
      <p:cxnSp>
        <p:nvCxnSpPr>
          <p:cNvPr id="158" name="Connector 157"/>
          <p:cNvCxnSpPr/>
          <p:nvPr/>
        </p:nvCxnSpPr>
        <p:spPr>
          <a:xfrm>
            <a:off x="5760720" y="5678424"/>
            <a:ext cx="55778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760720" y="5765292"/>
            <a:ext cx="312541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states searched</a:t>
            </a:r>
          </a:p>
        </p:txBody>
      </p:sp>
      <p:sp>
        <p:nvSpPr>
          <p:cNvPr id="160" name="TextBox 159"/>
          <p:cNvSpPr txBox="1"/>
          <p:nvPr/>
        </p:nvSpPr>
        <p:spPr>
          <a:xfrm>
            <a:off x="9014155" y="5751576"/>
            <a:ext cx="232440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10,240</a:t>
            </a:r>
          </a:p>
        </p:txBody>
      </p:sp>
      <p:cxnSp>
        <p:nvCxnSpPr>
          <p:cNvPr id="161" name="Connector 160"/>
          <p:cNvCxnSpPr/>
          <p:nvPr/>
        </p:nvCxnSpPr>
        <p:spPr>
          <a:xfrm>
            <a:off x="5760720" y="5952744"/>
            <a:ext cx="557783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777240" y="3840480"/>
            <a:ext cx="3108960" cy="502920"/>
          </a:xfrm>
          <a:prstGeom prst="rect">
            <a:avLst/>
          </a:prstGeom>
          <a:noFill/>
        </p:spPr>
        <p:txBody>
          <a:bodyPr wrap="square" lIns="0" tIns="0" rIns="0" bIns="0" anchor="t">
            <a:spAutoFit/>
          </a:bodyPr>
          <a:lstStyle/>
          <a:p>
            <a:pPr algn="l">
              <a:lnSpc>
                <a:spcPct val="125000"/>
              </a:lnSpc>
              <a:spcBef>
                <a:spcPts val="0"/>
              </a:spcBef>
              <a:spcAft>
                <a:spcPts val="0"/>
              </a:spcAft>
            </a:pPr>
            <a:r>
              <a:rPr sz="2700" b="0" i="0">
                <a:solidFill>
                  <a:srgbClr val="E1E3E7"/>
                </a:solidFill>
                <a:latin typeface="IBM Plex Serif"/>
              </a:rPr>
              <a:t>10 · 2¹⁰</a:t>
            </a:r>
          </a:p>
        </p:txBody>
      </p:sp>
      <p:sp>
        <p:nvSpPr>
          <p:cNvPr id="163" name="TextBox 162"/>
          <p:cNvSpPr txBox="1"/>
          <p:nvPr/>
        </p:nvSpPr>
        <p:spPr>
          <a:xfrm>
            <a:off x="777240" y="4297680"/>
            <a:ext cx="3108960" cy="329184"/>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7B8494"/>
                </a:solidFill>
                <a:latin typeface="IBM Plex Sans"/>
              </a:rPr>
              <a:t>states for n = 10</a:t>
            </a:r>
          </a:p>
        </p:txBody>
      </p:sp>
      <p:sp>
        <p:nvSpPr>
          <p:cNvPr id="164" name="TextBox 163"/>
          <p:cNvSpPr txBox="1"/>
          <p:nvPr/>
        </p:nvSpPr>
        <p:spPr>
          <a:xfrm>
            <a:off x="777240" y="4663440"/>
            <a:ext cx="448056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The DP state is (set visited, last vertex): the best path over that subset ending there. Every state extends by one unvisited vertex, and the full table answers the question exactly rather than approximately.</a:t>
            </a:r>
          </a:p>
        </p:txBody>
      </p:sp>
      <p:sp>
        <p:nvSpPr>
          <p:cNvPr id="165" name="TextBox 164"/>
          <p:cNvSpPr txBox="1"/>
          <p:nvPr/>
        </p:nvSpPr>
        <p:spPr>
          <a:xfrm>
            <a:off x="777240" y="5449824"/>
            <a:ext cx="448056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Ten is a design choice, not a limitation of the idea — the state count doubles with every extra candidate.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Planar graphs · C046</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The genre graph cannot be drawn without crossings</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11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Drop the multiplicities and keep an edge when two genres co-occur in at least six titles: 19 vertices, 98 edges. Every planar graph with v ≥ 3 obeys e ≤ 3v − 6. The ceiling here is 51, and the graph has 98.</a:t>
            </a:r>
          </a:p>
        </p:txBody>
      </p:sp>
      <p:sp>
        <p:nvSpPr>
          <p:cNvPr id="8" name="TextBox 7"/>
          <p:cNvSpPr txBox="1"/>
          <p:nvPr/>
        </p:nvSpPr>
        <p:spPr>
          <a:xfrm>
            <a:off x="777240" y="3108960"/>
            <a:ext cx="4617720" cy="822960"/>
          </a:xfrm>
          <a:prstGeom prst="rect">
            <a:avLst/>
          </a:prstGeom>
          <a:noFill/>
        </p:spPr>
        <p:txBody>
          <a:bodyPr wrap="square" lIns="0" tIns="0" rIns="0" bIns="0" anchor="t">
            <a:spAutoFit/>
          </a:bodyPr>
          <a:lstStyle/>
          <a:p>
            <a:pPr algn="l">
              <a:lnSpc>
                <a:spcPct val="125000"/>
              </a:lnSpc>
              <a:spcBef>
                <a:spcPts val="0"/>
              </a:spcBef>
              <a:spcAft>
                <a:spcPts val="0"/>
              </a:spcAft>
            </a:pPr>
            <a:r>
              <a:rPr sz="2200" b="0" i="0">
                <a:solidFill>
                  <a:srgbClr val="E1E3E7"/>
                </a:solidFill>
                <a:latin typeface="IBM Plex Mono"/>
              </a:rPr>
              <a:t>e  ≤  3v − 6</a:t>
            </a:r>
          </a:p>
          <a:p>
            <a:pPr algn="l">
              <a:lnSpc>
                <a:spcPct val="125000"/>
              </a:lnSpc>
              <a:spcBef>
                <a:spcPts val="800"/>
              </a:spcBef>
              <a:spcAft>
                <a:spcPts val="0"/>
              </a:spcAft>
            </a:pPr>
            <a:r>
              <a:rPr sz="2200" b="0" i="0">
                <a:solidFill>
                  <a:srgbClr val="D9655F"/>
                </a:solidFill>
                <a:latin typeface="IBM Plex Mono"/>
              </a:rPr>
              <a:t>98  ≤  57 − 6 = 51</a:t>
            </a:r>
          </a:p>
        </p:txBody>
      </p:sp>
      <p:sp>
        <p:nvSpPr>
          <p:cNvPr id="9" name="TextBox 8"/>
          <p:cNvSpPr txBox="1"/>
          <p:nvPr/>
        </p:nvSpPr>
        <p:spPr>
          <a:xfrm>
            <a:off x="777240" y="4133087"/>
            <a:ext cx="4617720" cy="365760"/>
          </a:xfrm>
          <a:prstGeom prst="rect">
            <a:avLst/>
          </a:prstGeom>
          <a:noFill/>
        </p:spPr>
        <p:txBody>
          <a:bodyPr wrap="square" lIns="0" tIns="0" rIns="0" bIns="0" anchor="t">
            <a:spAutoFit/>
          </a:bodyPr>
          <a:lstStyle/>
          <a:p>
            <a:pPr algn="l">
              <a:lnSpc>
                <a:spcPct val="125000"/>
              </a:lnSpc>
              <a:spcBef>
                <a:spcPts val="0"/>
              </a:spcBef>
              <a:spcAft>
                <a:spcPts val="0"/>
              </a:spcAft>
            </a:pPr>
            <a:r>
              <a:rPr sz="1200" b="0" i="1">
                <a:solidFill>
                  <a:srgbClr val="D9655F"/>
                </a:solidFill>
                <a:latin typeface="IBM Plex Serif"/>
              </a:rPr>
              <a:t>false, so the graph is not planar</a:t>
            </a:r>
          </a:p>
        </p:txBody>
      </p:sp>
      <p:sp>
        <p:nvSpPr>
          <p:cNvPr id="10" name="TextBox 9"/>
          <p:cNvSpPr txBox="1"/>
          <p:nvPr/>
        </p:nvSpPr>
        <p:spPr>
          <a:xfrm>
            <a:off x="777240" y="470458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vertices / edges</a:t>
            </a:r>
          </a:p>
        </p:txBody>
      </p:sp>
      <p:sp>
        <p:nvSpPr>
          <p:cNvPr id="11" name="TextBox 10"/>
          <p:cNvSpPr txBox="1"/>
          <p:nvPr/>
        </p:nvSpPr>
        <p:spPr>
          <a:xfrm>
            <a:off x="3473805" y="469087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19 / 98</a:t>
            </a:r>
          </a:p>
        </p:txBody>
      </p:sp>
      <p:cxnSp>
        <p:nvCxnSpPr>
          <p:cNvPr id="12" name="Connector 11"/>
          <p:cNvCxnSpPr/>
          <p:nvPr/>
        </p:nvCxnSpPr>
        <p:spPr>
          <a:xfrm>
            <a:off x="777240" y="489204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4978907"/>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planar ceiling 3v − 6</a:t>
            </a:r>
          </a:p>
        </p:txBody>
      </p:sp>
      <p:sp>
        <p:nvSpPr>
          <p:cNvPr id="14" name="TextBox 13"/>
          <p:cNvSpPr txBox="1"/>
          <p:nvPr/>
        </p:nvSpPr>
        <p:spPr>
          <a:xfrm>
            <a:off x="3473805" y="496519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51</a:t>
            </a:r>
          </a:p>
        </p:txBody>
      </p:sp>
      <p:cxnSp>
        <p:nvCxnSpPr>
          <p:cNvPr id="15" name="Connector 14"/>
          <p:cNvCxnSpPr/>
          <p:nvPr/>
        </p:nvCxnSpPr>
        <p:spPr>
          <a:xfrm>
            <a:off x="777240" y="5166359"/>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5253227"/>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excess</a:t>
            </a:r>
          </a:p>
        </p:txBody>
      </p:sp>
      <p:sp>
        <p:nvSpPr>
          <p:cNvPr id="17" name="TextBox 16"/>
          <p:cNvSpPr txBox="1"/>
          <p:nvPr/>
        </p:nvSpPr>
        <p:spPr>
          <a:xfrm>
            <a:off x="3473805" y="523951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47</a:t>
            </a:r>
          </a:p>
        </p:txBody>
      </p:sp>
      <p:cxnSp>
        <p:nvCxnSpPr>
          <p:cNvPr id="18" name="Connector 17"/>
          <p:cNvCxnSpPr/>
          <p:nvPr/>
        </p:nvCxnSpPr>
        <p:spPr>
          <a:xfrm>
            <a:off x="777240" y="5440679"/>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552754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Kuratowski</a:t>
            </a:r>
          </a:p>
        </p:txBody>
      </p:sp>
      <p:sp>
        <p:nvSpPr>
          <p:cNvPr id="20" name="TextBox 19"/>
          <p:cNvSpPr txBox="1"/>
          <p:nvPr/>
        </p:nvSpPr>
        <p:spPr>
          <a:xfrm>
            <a:off x="3473805" y="551383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K₅ witness</a:t>
            </a:r>
          </a:p>
        </p:txBody>
      </p:sp>
      <p:cxnSp>
        <p:nvCxnSpPr>
          <p:cNvPr id="21" name="Connector 20"/>
          <p:cNvCxnSpPr/>
          <p:nvPr/>
        </p:nvCxnSpPr>
        <p:spPr>
          <a:xfrm>
            <a:off x="777240" y="571500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580186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largest clique</a:t>
            </a:r>
          </a:p>
        </p:txBody>
      </p:sp>
      <p:sp>
        <p:nvSpPr>
          <p:cNvPr id="23" name="TextBox 22"/>
          <p:cNvSpPr txBox="1"/>
          <p:nvPr/>
        </p:nvSpPr>
        <p:spPr>
          <a:xfrm>
            <a:off x="3473805" y="578815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K₉</a:t>
            </a:r>
          </a:p>
        </p:txBody>
      </p:sp>
      <p:cxnSp>
        <p:nvCxnSpPr>
          <p:cNvPr id="24" name="Connector 23"/>
          <p:cNvCxnSpPr/>
          <p:nvPr/>
        </p:nvCxnSpPr>
        <p:spPr>
          <a:xfrm>
            <a:off x="777240" y="598932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09359" y="1554480"/>
            <a:ext cx="420624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K₅ inside it — the Kuratowski witness</a:t>
            </a:r>
          </a:p>
        </p:txBody>
      </p:sp>
      <p:cxnSp>
        <p:nvCxnSpPr>
          <p:cNvPr id="26" name="Connector 25"/>
          <p:cNvCxnSpPr/>
          <p:nvPr/>
        </p:nvCxnSpPr>
        <p:spPr>
          <a:xfrm>
            <a:off x="7863840" y="2139696"/>
            <a:ext cx="1113146" cy="808748"/>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863840" y="2139696"/>
            <a:ext cx="687962" cy="2117331"/>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7175877" y="2139696"/>
            <a:ext cx="687963" cy="2117331"/>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750693" y="2139696"/>
            <a:ext cx="1113147" cy="808748"/>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8551802" y="2948444"/>
            <a:ext cx="425184" cy="1308583"/>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7175877" y="2948444"/>
            <a:ext cx="1801109" cy="1308583"/>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750693" y="2948444"/>
            <a:ext cx="2226293" cy="0"/>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175877" y="4257027"/>
            <a:ext cx="1375925" cy="0"/>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6750693" y="2948444"/>
            <a:ext cx="1801109" cy="1308583"/>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6750693" y="2948444"/>
            <a:ext cx="425184" cy="1308583"/>
          </a:xfrm>
          <a:prstGeom prst="line">
            <a:avLst/>
          </a:prstGeom>
          <a:ln w="11430">
            <a:solidFill>
              <a:srgbClr val="4A5563"/>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7799831" y="2075688"/>
            <a:ext cx="128016" cy="128016"/>
          </a:xfrm>
          <a:prstGeom prst="ellipse">
            <a:avLst/>
          </a:prstGeom>
          <a:solidFill>
            <a:srgbClr val="6EA8F0"/>
          </a:solidFill>
          <a:ln w="1778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8060" y="1792224"/>
            <a:ext cx="105156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B2B9C6"/>
                </a:solidFill>
                <a:latin typeface="IBM Plex Sans"/>
              </a:rPr>
              <a:t>Drama</a:t>
            </a:r>
          </a:p>
        </p:txBody>
      </p:sp>
      <p:sp>
        <p:nvSpPr>
          <p:cNvPr id="38" name="Oval 37"/>
          <p:cNvSpPr/>
          <p:nvPr/>
        </p:nvSpPr>
        <p:spPr>
          <a:xfrm>
            <a:off x="8912978" y="2884436"/>
            <a:ext cx="128016" cy="128016"/>
          </a:xfrm>
          <a:prstGeom prst="ellipse">
            <a:avLst/>
          </a:prstGeom>
          <a:solidFill>
            <a:srgbClr val="6EA8F0"/>
          </a:solidFill>
          <a:ln w="1778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94707" y="2777886"/>
            <a:ext cx="105156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B2B9C6"/>
                </a:solidFill>
                <a:latin typeface="IBM Plex Sans"/>
              </a:rPr>
              <a:t>Comedy</a:t>
            </a:r>
          </a:p>
        </p:txBody>
      </p:sp>
      <p:sp>
        <p:nvSpPr>
          <p:cNvPr id="40" name="Oval 39"/>
          <p:cNvSpPr/>
          <p:nvPr/>
        </p:nvSpPr>
        <p:spPr>
          <a:xfrm>
            <a:off x="8487794" y="4193019"/>
            <a:ext cx="128016" cy="128016"/>
          </a:xfrm>
          <a:prstGeom prst="ellipse">
            <a:avLst/>
          </a:prstGeom>
          <a:solidFill>
            <a:srgbClr val="6EA8F0"/>
          </a:solidFill>
          <a:ln w="1778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76514" y="4372721"/>
            <a:ext cx="105156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B2B9C6"/>
                </a:solidFill>
                <a:latin typeface="IBM Plex Sans"/>
              </a:rPr>
              <a:t>Thriller</a:t>
            </a:r>
          </a:p>
        </p:txBody>
      </p:sp>
      <p:sp>
        <p:nvSpPr>
          <p:cNvPr id="42" name="Oval 41"/>
          <p:cNvSpPr/>
          <p:nvPr/>
        </p:nvSpPr>
        <p:spPr>
          <a:xfrm>
            <a:off x="7111869" y="4193019"/>
            <a:ext cx="128016" cy="128016"/>
          </a:xfrm>
          <a:prstGeom prst="ellipse">
            <a:avLst/>
          </a:prstGeom>
          <a:solidFill>
            <a:srgbClr val="6EA8F0"/>
          </a:solidFill>
          <a:ln w="1778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9605" y="4372721"/>
            <a:ext cx="105156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B2B9C6"/>
                </a:solidFill>
                <a:latin typeface="IBM Plex Sans"/>
              </a:rPr>
              <a:t>Action</a:t>
            </a:r>
          </a:p>
        </p:txBody>
      </p:sp>
      <p:sp>
        <p:nvSpPr>
          <p:cNvPr id="44" name="Oval 43"/>
          <p:cNvSpPr/>
          <p:nvPr/>
        </p:nvSpPr>
        <p:spPr>
          <a:xfrm>
            <a:off x="6686685" y="2884436"/>
            <a:ext cx="128016" cy="128016"/>
          </a:xfrm>
          <a:prstGeom prst="ellipse">
            <a:avLst/>
          </a:prstGeom>
          <a:solidFill>
            <a:srgbClr val="6EA8F0"/>
          </a:solidFill>
          <a:ln w="1778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81412" y="2777886"/>
            <a:ext cx="1051560" cy="18288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B2B9C6"/>
                </a:solidFill>
                <a:latin typeface="IBM Plex Sans"/>
              </a:rPr>
              <a:t>Romance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Planar graphs · C046</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Keep the heavy edges, and four colours suffice</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12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Keep the heaviest edges in descending co-occurrence order and discard any edge that breaks planarity: 47 survive, 51 go. Tutte's barycentric method then places every interior vertex at the average of its neighbours, with the outer face pinned on a circle.</a:t>
            </a:r>
          </a:p>
        </p:txBody>
      </p:sp>
      <p:sp>
        <p:nvSpPr>
          <p:cNvPr id="8" name="TextBox 7"/>
          <p:cNvSpPr txBox="1"/>
          <p:nvPr/>
        </p:nvSpPr>
        <p:spPr>
          <a:xfrm>
            <a:off x="777240" y="3442716"/>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planar subgraph</a:t>
            </a:r>
          </a:p>
        </p:txBody>
      </p:sp>
      <p:sp>
        <p:nvSpPr>
          <p:cNvPr id="9" name="TextBox 8"/>
          <p:cNvSpPr txBox="1"/>
          <p:nvPr/>
        </p:nvSpPr>
        <p:spPr>
          <a:xfrm>
            <a:off x="3473805" y="3429000"/>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19 vertices · 47 edges</a:t>
            </a:r>
          </a:p>
        </p:txBody>
      </p:sp>
      <p:cxnSp>
        <p:nvCxnSpPr>
          <p:cNvPr id="10" name="Connector 9"/>
          <p:cNvCxnSpPr/>
          <p:nvPr/>
        </p:nvCxnSpPr>
        <p:spPr>
          <a:xfrm>
            <a:off x="777240" y="364388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730752"/>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crossings in the drawing</a:t>
            </a:r>
          </a:p>
        </p:txBody>
      </p:sp>
      <p:sp>
        <p:nvSpPr>
          <p:cNvPr id="12" name="TextBox 11"/>
          <p:cNvSpPr txBox="1"/>
          <p:nvPr/>
        </p:nvSpPr>
        <p:spPr>
          <a:xfrm>
            <a:off x="3473805" y="3717036"/>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0</a:t>
            </a:r>
          </a:p>
        </p:txBody>
      </p:sp>
      <p:cxnSp>
        <p:nvCxnSpPr>
          <p:cNvPr id="13" name="Connector 12"/>
          <p:cNvCxnSpPr/>
          <p:nvPr/>
        </p:nvCxnSpPr>
        <p:spPr>
          <a:xfrm>
            <a:off x="777240" y="393192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018788"/>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faces  F</a:t>
            </a:r>
          </a:p>
        </p:txBody>
      </p:sp>
      <p:sp>
        <p:nvSpPr>
          <p:cNvPr id="15" name="TextBox 14"/>
          <p:cNvSpPr txBox="1"/>
          <p:nvPr/>
        </p:nvSpPr>
        <p:spPr>
          <a:xfrm>
            <a:off x="3473805" y="4005072"/>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30</a:t>
            </a:r>
          </a:p>
        </p:txBody>
      </p:sp>
      <p:cxnSp>
        <p:nvCxnSpPr>
          <p:cNvPr id="16" name="Connector 15"/>
          <p:cNvCxnSpPr/>
          <p:nvPr/>
        </p:nvCxnSpPr>
        <p:spPr>
          <a:xfrm>
            <a:off x="777240" y="421995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4306824"/>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Euler  V − E + F</a:t>
            </a:r>
          </a:p>
        </p:txBody>
      </p:sp>
      <p:sp>
        <p:nvSpPr>
          <p:cNvPr id="18" name="TextBox 17"/>
          <p:cNvSpPr txBox="1"/>
          <p:nvPr/>
        </p:nvSpPr>
        <p:spPr>
          <a:xfrm>
            <a:off x="3473805" y="4293108"/>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19 − 47 + 30 = 2</a:t>
            </a:r>
          </a:p>
        </p:txBody>
      </p:sp>
      <p:cxnSp>
        <p:nvCxnSpPr>
          <p:cNvPr id="19" name="Connector 18"/>
          <p:cNvCxnSpPr/>
          <p:nvPr/>
        </p:nvCxnSpPr>
        <p:spPr>
          <a:xfrm>
            <a:off x="777240" y="450799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594860"/>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colours  DSATUR</a:t>
            </a:r>
          </a:p>
        </p:txBody>
      </p:sp>
      <p:sp>
        <p:nvSpPr>
          <p:cNvPr id="21" name="TextBox 20"/>
          <p:cNvSpPr txBox="1"/>
          <p:nvPr/>
        </p:nvSpPr>
        <p:spPr>
          <a:xfrm>
            <a:off x="3473805" y="4581144"/>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  (planar)</a:t>
            </a:r>
          </a:p>
        </p:txBody>
      </p:sp>
      <p:cxnSp>
        <p:nvCxnSpPr>
          <p:cNvPr id="22" name="Connector 21"/>
          <p:cNvCxnSpPr/>
          <p:nvPr/>
        </p:nvCxnSpPr>
        <p:spPr>
          <a:xfrm>
            <a:off x="777240" y="479602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4882896"/>
            <a:ext cx="2568549"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largest clique</a:t>
            </a:r>
          </a:p>
        </p:txBody>
      </p:sp>
      <p:sp>
        <p:nvSpPr>
          <p:cNvPr id="24" name="TextBox 23"/>
          <p:cNvSpPr txBox="1"/>
          <p:nvPr/>
        </p:nvSpPr>
        <p:spPr>
          <a:xfrm>
            <a:off x="3473805" y="4869180"/>
            <a:ext cx="1921154"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K₄  →  χ = 4 exactly</a:t>
            </a:r>
          </a:p>
        </p:txBody>
      </p:sp>
      <p:cxnSp>
        <p:nvCxnSpPr>
          <p:cNvPr id="25" name="Connector 24"/>
          <p:cNvCxnSpPr/>
          <p:nvPr/>
        </p:nvCxnSpPr>
        <p:spPr>
          <a:xfrm>
            <a:off x="777240" y="508406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939198" y="3483263"/>
            <a:ext cx="1260073" cy="119473"/>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6939198" y="3095915"/>
            <a:ext cx="1477574" cy="50682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8416772" y="3095915"/>
            <a:ext cx="1926189" cy="50682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8555985" y="3588270"/>
            <a:ext cx="1786976" cy="1446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329295" y="3549977"/>
            <a:ext cx="226690" cy="38293"/>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939198" y="3410083"/>
            <a:ext cx="842261" cy="192653"/>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8329295" y="3549977"/>
            <a:ext cx="2013666" cy="52759"/>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641080" y="1900854"/>
            <a:ext cx="1701881" cy="1701882"/>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416772" y="1900854"/>
            <a:ext cx="224308" cy="119506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7781459" y="3410083"/>
            <a:ext cx="417812" cy="73180"/>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939198" y="3602736"/>
            <a:ext cx="3403763" cy="0"/>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199271" y="3483263"/>
            <a:ext cx="130024" cy="66714"/>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781459" y="3095915"/>
            <a:ext cx="635313" cy="31416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939198" y="3549977"/>
            <a:ext cx="1390097" cy="52759"/>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939198" y="1900854"/>
            <a:ext cx="1701882" cy="1701882"/>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913866" y="3483263"/>
            <a:ext cx="285405" cy="57184"/>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416772" y="2799618"/>
            <a:ext cx="606890" cy="296297"/>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8199271" y="3095915"/>
            <a:ext cx="217501" cy="38734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187528" y="3523087"/>
            <a:ext cx="54801" cy="2894"/>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8199271" y="3483263"/>
            <a:ext cx="2143690" cy="119473"/>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913866" y="3540447"/>
            <a:ext cx="415429" cy="9530"/>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8187528" y="3525981"/>
            <a:ext cx="141767" cy="2399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187528" y="3483263"/>
            <a:ext cx="11743" cy="4271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9023662" y="2799618"/>
            <a:ext cx="1319299" cy="80311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199271" y="3483263"/>
            <a:ext cx="43058" cy="39824"/>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8612658" y="3597970"/>
            <a:ext cx="1730303" cy="476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8242329" y="3523087"/>
            <a:ext cx="86966" cy="26890"/>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913866" y="3525981"/>
            <a:ext cx="273662" cy="1446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712533" y="3095915"/>
            <a:ext cx="704239" cy="273663"/>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939198" y="3498751"/>
            <a:ext cx="700835" cy="103985"/>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6939198" y="3540447"/>
            <a:ext cx="974668" cy="62289"/>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641080" y="1900854"/>
            <a:ext cx="382582" cy="898764"/>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7640033" y="3483263"/>
            <a:ext cx="559238" cy="1548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939198" y="3597970"/>
            <a:ext cx="1673460" cy="476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640033" y="3410083"/>
            <a:ext cx="141426" cy="8866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187528" y="3525981"/>
            <a:ext cx="65523" cy="6977"/>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8253051" y="3532958"/>
            <a:ext cx="76244" cy="17019"/>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242329" y="3523087"/>
            <a:ext cx="10722" cy="987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939198" y="3369578"/>
            <a:ext cx="773335" cy="233158"/>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939198" y="3588270"/>
            <a:ext cx="1616787" cy="14466"/>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7712533" y="3369578"/>
            <a:ext cx="68926" cy="40505"/>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939198" y="3602736"/>
            <a:ext cx="1701882" cy="170188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641080" y="1900854"/>
            <a:ext cx="52758" cy="697942"/>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8641080" y="3602736"/>
            <a:ext cx="1701881" cy="1701881"/>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555985" y="3588270"/>
            <a:ext cx="56673" cy="9700"/>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416772" y="2598796"/>
            <a:ext cx="277066" cy="497119"/>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8693838" y="2598796"/>
            <a:ext cx="329824" cy="200822"/>
          </a:xfrm>
          <a:prstGeom prst="line">
            <a:avLst/>
          </a:prstGeom>
          <a:ln w="8890">
            <a:solidFill>
              <a:srgbClr val="39414E"/>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10283525" y="3543300"/>
            <a:ext cx="118872" cy="118872"/>
          </a:xfrm>
          <a:prstGeom prst="ellipse">
            <a:avLst/>
          </a:prstGeom>
          <a:solidFill>
            <a:srgbClr val="D95926"/>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434401" y="3529584"/>
            <a:ext cx="87782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B2B9C6"/>
                </a:solidFill>
                <a:latin typeface="IBM Plex Sans"/>
              </a:rPr>
              <a:t>Drama</a:t>
            </a:r>
          </a:p>
        </p:txBody>
      </p:sp>
      <p:sp>
        <p:nvSpPr>
          <p:cNvPr id="75" name="Oval 74"/>
          <p:cNvSpPr/>
          <p:nvPr/>
        </p:nvSpPr>
        <p:spPr>
          <a:xfrm>
            <a:off x="8269859" y="3490541"/>
            <a:ext cx="118872" cy="118872"/>
          </a:xfrm>
          <a:prstGeom prst="ellipse">
            <a:avLst/>
          </a:prstGeom>
          <a:solidFill>
            <a:srgbClr val="C9850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357336" y="3036479"/>
            <a:ext cx="118872" cy="118872"/>
          </a:xfrm>
          <a:prstGeom prst="ellipse">
            <a:avLst/>
          </a:prstGeom>
          <a:solidFill>
            <a:srgbClr val="C9850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879762" y="3543300"/>
            <a:ext cx="118872" cy="118872"/>
          </a:xfrm>
          <a:prstGeom prst="ellipse">
            <a:avLst/>
          </a:prstGeom>
          <a:solidFill>
            <a:srgbClr val="3987E5"/>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006510" y="3529584"/>
            <a:ext cx="877824" cy="164592"/>
          </a:xfrm>
          <a:prstGeom prst="rect">
            <a:avLst/>
          </a:prstGeom>
          <a:noFill/>
        </p:spPr>
        <p:txBody>
          <a:bodyPr wrap="square" lIns="0" tIns="0" rIns="0" bIns="0" anchor="t">
            <a:spAutoFit/>
          </a:bodyPr>
          <a:lstStyle/>
          <a:p>
            <a:pPr algn="r">
              <a:lnSpc>
                <a:spcPct val="125000"/>
              </a:lnSpc>
              <a:spcBef>
                <a:spcPts val="0"/>
              </a:spcBef>
              <a:spcAft>
                <a:spcPts val="0"/>
              </a:spcAft>
            </a:pPr>
            <a:r>
              <a:rPr sz="800" b="0" i="0">
                <a:solidFill>
                  <a:srgbClr val="B2B9C6"/>
                </a:solidFill>
                <a:latin typeface="IBM Plex Sans"/>
              </a:rPr>
              <a:t>Action</a:t>
            </a:r>
          </a:p>
        </p:txBody>
      </p:sp>
      <p:sp>
        <p:nvSpPr>
          <p:cNvPr id="79" name="Oval 78"/>
          <p:cNvSpPr/>
          <p:nvPr/>
        </p:nvSpPr>
        <p:spPr>
          <a:xfrm>
            <a:off x="8496549" y="3528834"/>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139835" y="3423827"/>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581644" y="1841418"/>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732519" y="1827702"/>
            <a:ext cx="87782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B2B9C6"/>
                </a:solidFill>
                <a:latin typeface="IBM Plex Sans"/>
              </a:rPr>
              <a:t>Crime</a:t>
            </a:r>
          </a:p>
        </p:txBody>
      </p:sp>
      <p:sp>
        <p:nvSpPr>
          <p:cNvPr id="83" name="Oval 82"/>
          <p:cNvSpPr/>
          <p:nvPr/>
        </p:nvSpPr>
        <p:spPr>
          <a:xfrm>
            <a:off x="7722023" y="3350647"/>
            <a:ext cx="118872" cy="118872"/>
          </a:xfrm>
          <a:prstGeom prst="ellipse">
            <a:avLst/>
          </a:prstGeom>
          <a:solidFill>
            <a:srgbClr val="D95926"/>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653097" y="3310142"/>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854430" y="3481011"/>
            <a:ext cx="118872" cy="118872"/>
          </a:xfrm>
          <a:prstGeom prst="ellipse">
            <a:avLst/>
          </a:prstGeom>
          <a:solidFill>
            <a:srgbClr val="D95926"/>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128092" y="3466545"/>
            <a:ext cx="118872" cy="118872"/>
          </a:xfrm>
          <a:prstGeom prst="ellipse">
            <a:avLst/>
          </a:prstGeom>
          <a:solidFill>
            <a:srgbClr val="3987E5"/>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182893" y="3463651"/>
            <a:ext cx="118872" cy="118872"/>
          </a:xfrm>
          <a:prstGeom prst="ellipse">
            <a:avLst/>
          </a:prstGeom>
          <a:solidFill>
            <a:srgbClr val="D95926"/>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964226" y="2740182"/>
            <a:ext cx="118872" cy="118872"/>
          </a:xfrm>
          <a:prstGeom prst="ellipse">
            <a:avLst/>
          </a:prstGeom>
          <a:solidFill>
            <a:srgbClr val="3987E5"/>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156173" y="4280214"/>
            <a:ext cx="118872" cy="118872"/>
          </a:xfrm>
          <a:prstGeom prst="ellipse">
            <a:avLst/>
          </a:prstGeom>
          <a:solidFill>
            <a:srgbClr val="3987E5"/>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553222" y="3538534"/>
            <a:ext cx="118872" cy="118872"/>
          </a:xfrm>
          <a:prstGeom prst="ellipse">
            <a:avLst/>
          </a:prstGeom>
          <a:solidFill>
            <a:srgbClr val="C9850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193615" y="3473522"/>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581644" y="5245181"/>
            <a:ext cx="118872" cy="118872"/>
          </a:xfrm>
          <a:prstGeom prst="ellipse">
            <a:avLst/>
          </a:prstGeom>
          <a:solidFill>
            <a:srgbClr val="199E7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732519" y="5231465"/>
            <a:ext cx="877824" cy="164592"/>
          </a:xfrm>
          <a:prstGeom prst="rect">
            <a:avLst/>
          </a:prstGeom>
          <a:noFill/>
        </p:spPr>
        <p:txBody>
          <a:bodyPr wrap="square" lIns="0" tIns="0" rIns="0" bIns="0" anchor="t">
            <a:spAutoFit/>
          </a:bodyPr>
          <a:lstStyle/>
          <a:p>
            <a:pPr algn="l">
              <a:lnSpc>
                <a:spcPct val="125000"/>
              </a:lnSpc>
              <a:spcBef>
                <a:spcPts val="0"/>
              </a:spcBef>
              <a:spcAft>
                <a:spcPts val="0"/>
              </a:spcAft>
            </a:pPr>
            <a:r>
              <a:rPr sz="800" b="0" i="0">
                <a:solidFill>
                  <a:srgbClr val="B2B9C6"/>
                </a:solidFill>
                <a:latin typeface="IBM Plex Sans"/>
              </a:rPr>
              <a:t>Western</a:t>
            </a:r>
          </a:p>
        </p:txBody>
      </p:sp>
      <p:sp>
        <p:nvSpPr>
          <p:cNvPr id="94" name="Oval 93"/>
          <p:cNvSpPr/>
          <p:nvPr/>
        </p:nvSpPr>
        <p:spPr>
          <a:xfrm>
            <a:off x="7580597" y="3439315"/>
            <a:ext cx="118872" cy="118872"/>
          </a:xfrm>
          <a:prstGeom prst="ellipse">
            <a:avLst/>
          </a:prstGeom>
          <a:solidFill>
            <a:srgbClr val="C98500"/>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634402" y="2539360"/>
            <a:ext cx="118872" cy="118872"/>
          </a:xfrm>
          <a:prstGeom prst="ellipse">
            <a:avLst/>
          </a:prstGeom>
          <a:solidFill>
            <a:srgbClr val="D95926"/>
          </a:solidFill>
          <a:ln w="15240">
            <a:solidFill>
              <a:srgbClr val="0004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989320" y="5504688"/>
            <a:ext cx="539496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Tutte drawing · 19 vertices, 47 edges, 0 crossings, 4 colours</a:t>
            </a:r>
          </a:p>
        </p:txBody>
      </p:sp>
      <p:sp>
        <p:nvSpPr>
          <p:cNvPr id="97" name="TextBox 96"/>
          <p:cNvSpPr txBox="1"/>
          <p:nvPr/>
        </p:nvSpPr>
        <p:spPr>
          <a:xfrm>
            <a:off x="5989320" y="5742432"/>
            <a:ext cx="5358384" cy="256032"/>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Sans"/>
              </a:rPr>
              <a:t>The interior crowds because every inner vertex is a barycentre of its neighbours — the drawing is the theorem, not a layout choice.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Graph colouring · C046</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Colour the list so no two neighbours are adjacent</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13 / 14</a:t>
            </a:r>
          </a:p>
        </p:txBody>
      </p:sp>
      <p:sp>
        <p:nvSpPr>
          <p:cNvPr id="7" name="TextBox 6"/>
          <p:cNvSpPr txBox="1"/>
          <p:nvPr/>
        </p:nvSpPr>
        <p:spPr>
          <a:xfrm>
            <a:off x="777240" y="1645920"/>
            <a:ext cx="4617720" cy="201168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B2B9C6"/>
                </a:solidFill>
                <a:latin typeface="IBM Plex Sans"/>
              </a:rPr>
              <a:t>The conflict graph on one viewer's top ten: two titles are adjacent when they share a genre. A proper colouring is a proof that an ordering exists in which no two similar titles sit next to each other.</a:t>
            </a:r>
          </a:p>
        </p:txBody>
      </p:sp>
      <p:sp>
        <p:nvSpPr>
          <p:cNvPr id="8" name="TextBox 7"/>
          <p:cNvSpPr txBox="1"/>
          <p:nvPr/>
        </p:nvSpPr>
        <p:spPr>
          <a:xfrm>
            <a:off x="777240" y="3058668"/>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vertices</a:t>
            </a:r>
          </a:p>
        </p:txBody>
      </p:sp>
      <p:sp>
        <p:nvSpPr>
          <p:cNvPr id="9" name="TextBox 8"/>
          <p:cNvSpPr txBox="1"/>
          <p:nvPr/>
        </p:nvSpPr>
        <p:spPr>
          <a:xfrm>
            <a:off x="3381451" y="3044951"/>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10</a:t>
            </a:r>
          </a:p>
        </p:txBody>
      </p:sp>
      <p:cxnSp>
        <p:nvCxnSpPr>
          <p:cNvPr id="10" name="Connector 9"/>
          <p:cNvCxnSpPr/>
          <p:nvPr/>
        </p:nvCxnSpPr>
        <p:spPr>
          <a:xfrm>
            <a:off x="777240" y="325983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346703"/>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adjacency</a:t>
            </a:r>
          </a:p>
        </p:txBody>
      </p:sp>
      <p:sp>
        <p:nvSpPr>
          <p:cNvPr id="12" name="TextBox 11"/>
          <p:cNvSpPr txBox="1"/>
          <p:nvPr/>
        </p:nvSpPr>
        <p:spPr>
          <a:xfrm>
            <a:off x="3381451" y="3332987"/>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share a genre</a:t>
            </a:r>
          </a:p>
        </p:txBody>
      </p:sp>
      <p:cxnSp>
        <p:nvCxnSpPr>
          <p:cNvPr id="13" name="Connector 12"/>
          <p:cNvCxnSpPr/>
          <p:nvPr/>
        </p:nvCxnSpPr>
        <p:spPr>
          <a:xfrm>
            <a:off x="777240" y="354787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634739"/>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colours  DSATUR</a:t>
            </a:r>
          </a:p>
        </p:txBody>
      </p:sp>
      <p:sp>
        <p:nvSpPr>
          <p:cNvPr id="15" name="TextBox 14"/>
          <p:cNvSpPr txBox="1"/>
          <p:nvPr/>
        </p:nvSpPr>
        <p:spPr>
          <a:xfrm>
            <a:off x="3381451" y="3621023"/>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4D92FF"/>
                </a:solidFill>
                <a:latin typeface="IBM Plex Mono"/>
              </a:rPr>
              <a:t>7</a:t>
            </a:r>
          </a:p>
        </p:txBody>
      </p:sp>
      <p:cxnSp>
        <p:nvCxnSpPr>
          <p:cNvPr id="16" name="Connector 15"/>
          <p:cNvCxnSpPr/>
          <p:nvPr/>
        </p:nvCxnSpPr>
        <p:spPr>
          <a:xfrm>
            <a:off x="777240" y="383590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3922776"/>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largest clique</a:t>
            </a:r>
          </a:p>
        </p:txBody>
      </p:sp>
      <p:sp>
        <p:nvSpPr>
          <p:cNvPr id="18" name="TextBox 17"/>
          <p:cNvSpPr txBox="1"/>
          <p:nvPr/>
        </p:nvSpPr>
        <p:spPr>
          <a:xfrm>
            <a:off x="3381451" y="3909060"/>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K₇  →  χ = 7 exactly</a:t>
            </a:r>
          </a:p>
        </p:txBody>
      </p:sp>
      <p:cxnSp>
        <p:nvCxnSpPr>
          <p:cNvPr id="19" name="Connector 18"/>
          <p:cNvCxnSpPr/>
          <p:nvPr/>
        </p:nvCxnSpPr>
        <p:spPr>
          <a:xfrm>
            <a:off x="777240" y="4123944"/>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210812"/>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most conflicted</a:t>
            </a:r>
          </a:p>
        </p:txBody>
      </p:sp>
      <p:sp>
        <p:nvSpPr>
          <p:cNvPr id="21" name="TextBox 20"/>
          <p:cNvSpPr txBox="1"/>
          <p:nvPr/>
        </p:nvSpPr>
        <p:spPr>
          <a:xfrm>
            <a:off x="3381451" y="4197096"/>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Fight Club, 9</a:t>
            </a:r>
          </a:p>
        </p:txBody>
      </p:sp>
      <p:cxnSp>
        <p:nvCxnSpPr>
          <p:cNvPr id="22" name="Connector 21"/>
          <p:cNvCxnSpPr/>
          <p:nvPr/>
        </p:nvCxnSpPr>
        <p:spPr>
          <a:xfrm>
            <a:off x="777240" y="4411980"/>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4498848"/>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genre graph, planar</a:t>
            </a:r>
          </a:p>
        </p:txBody>
      </p:sp>
      <p:sp>
        <p:nvSpPr>
          <p:cNvPr id="24" name="TextBox 23"/>
          <p:cNvSpPr txBox="1"/>
          <p:nvPr/>
        </p:nvSpPr>
        <p:spPr>
          <a:xfrm>
            <a:off x="3381451" y="4485132"/>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4 colours</a:t>
            </a:r>
          </a:p>
        </p:txBody>
      </p:sp>
      <p:cxnSp>
        <p:nvCxnSpPr>
          <p:cNvPr id="25" name="Connector 24"/>
          <p:cNvCxnSpPr/>
          <p:nvPr/>
        </p:nvCxnSpPr>
        <p:spPr>
          <a:xfrm>
            <a:off x="777240" y="4700016"/>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4786883"/>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genre graph, full</a:t>
            </a:r>
          </a:p>
        </p:txBody>
      </p:sp>
      <p:sp>
        <p:nvSpPr>
          <p:cNvPr id="27" name="TextBox 26"/>
          <p:cNvSpPr txBox="1"/>
          <p:nvPr/>
        </p:nvSpPr>
        <p:spPr>
          <a:xfrm>
            <a:off x="3381451" y="4773168"/>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9 colours</a:t>
            </a:r>
          </a:p>
        </p:txBody>
      </p:sp>
      <p:cxnSp>
        <p:nvCxnSpPr>
          <p:cNvPr id="28" name="Connector 27"/>
          <p:cNvCxnSpPr/>
          <p:nvPr/>
        </p:nvCxnSpPr>
        <p:spPr>
          <a:xfrm>
            <a:off x="777240" y="4988052"/>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5074920"/>
            <a:ext cx="2476195" cy="219456"/>
          </a:xfrm>
          <a:prstGeom prst="rect">
            <a:avLst/>
          </a:prstGeom>
          <a:noFill/>
        </p:spPr>
        <p:txBody>
          <a:bodyPr wrap="square" lIns="0" tIns="0" rIns="0" bIns="0" anchor="t">
            <a:spAutoFit/>
          </a:bodyPr>
          <a:lstStyle/>
          <a:p>
            <a:pPr algn="l">
              <a:lnSpc>
                <a:spcPct val="125000"/>
              </a:lnSpc>
              <a:spcBef>
                <a:spcPts val="0"/>
              </a:spcBef>
              <a:spcAft>
                <a:spcPts val="0"/>
              </a:spcAft>
            </a:pPr>
            <a:r>
              <a:rPr sz="1050" b="0" i="0">
                <a:solidFill>
                  <a:srgbClr val="7B8494"/>
                </a:solidFill>
                <a:latin typeface="IBM Plex Sans"/>
              </a:rPr>
              <a:t>full-graph clique</a:t>
            </a:r>
          </a:p>
        </p:txBody>
      </p:sp>
      <p:sp>
        <p:nvSpPr>
          <p:cNvPr id="30" name="TextBox 29"/>
          <p:cNvSpPr txBox="1"/>
          <p:nvPr/>
        </p:nvSpPr>
        <p:spPr>
          <a:xfrm>
            <a:off x="3381451" y="5061204"/>
            <a:ext cx="2013508" cy="219456"/>
          </a:xfrm>
          <a:prstGeom prst="rect">
            <a:avLst/>
          </a:prstGeom>
          <a:noFill/>
        </p:spPr>
        <p:txBody>
          <a:bodyPr wrap="square" lIns="0" tIns="0" rIns="0" bIns="0" anchor="t">
            <a:spAutoFit/>
          </a:bodyPr>
          <a:lstStyle/>
          <a:p>
            <a:pPr algn="r">
              <a:lnSpc>
                <a:spcPct val="125000"/>
              </a:lnSpc>
              <a:spcBef>
                <a:spcPts val="0"/>
              </a:spcBef>
              <a:spcAft>
                <a:spcPts val="0"/>
              </a:spcAft>
            </a:pPr>
            <a:r>
              <a:rPr sz="1050" b="0" i="0">
                <a:solidFill>
                  <a:srgbClr val="E1E3E7"/>
                </a:solidFill>
                <a:latin typeface="IBM Plex Mono"/>
              </a:rPr>
              <a:t>K₉</a:t>
            </a:r>
          </a:p>
        </p:txBody>
      </p:sp>
      <p:cxnSp>
        <p:nvCxnSpPr>
          <p:cNvPr id="31" name="Connector 30"/>
          <p:cNvCxnSpPr/>
          <p:nvPr/>
        </p:nvCxnSpPr>
        <p:spPr>
          <a:xfrm>
            <a:off x="777240" y="5276088"/>
            <a:ext cx="461771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89320" y="1536192"/>
            <a:ext cx="5120640" cy="201168"/>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Viewer 498's top ten, in order, by colour</a:t>
            </a:r>
          </a:p>
        </p:txBody>
      </p:sp>
      <p:sp>
        <p:nvSpPr>
          <p:cNvPr id="33" name="Rectangle 32"/>
          <p:cNvSpPr/>
          <p:nvPr/>
        </p:nvSpPr>
        <p:spPr>
          <a:xfrm>
            <a:off x="5989320" y="1800605"/>
            <a:ext cx="137160" cy="137160"/>
          </a:xfrm>
          <a:prstGeom prst="rect">
            <a:avLst/>
          </a:prstGeom>
          <a:solidFill>
            <a:srgbClr val="D95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1773936"/>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Matrix, The</a:t>
            </a:r>
          </a:p>
        </p:txBody>
      </p:sp>
      <p:sp>
        <p:nvSpPr>
          <p:cNvPr id="35" name="TextBox 34"/>
          <p:cNvSpPr txBox="1"/>
          <p:nvPr/>
        </p:nvSpPr>
        <p:spPr>
          <a:xfrm>
            <a:off x="9116567" y="1773936"/>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Sci-Fi</a:t>
            </a:r>
          </a:p>
        </p:txBody>
      </p:sp>
      <p:sp>
        <p:nvSpPr>
          <p:cNvPr id="36" name="TextBox 35"/>
          <p:cNvSpPr txBox="1"/>
          <p:nvPr/>
        </p:nvSpPr>
        <p:spPr>
          <a:xfrm>
            <a:off x="10707624" y="1773936"/>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2</a:t>
            </a:r>
          </a:p>
        </p:txBody>
      </p:sp>
      <p:cxnSp>
        <p:nvCxnSpPr>
          <p:cNvPr id="37" name="Connector 36"/>
          <p:cNvCxnSpPr/>
          <p:nvPr/>
        </p:nvCxnSpPr>
        <p:spPr>
          <a:xfrm>
            <a:off x="5989320" y="2066543"/>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989320" y="2159050"/>
            <a:ext cx="137160" cy="13716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2132380"/>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Silence of the Lambs, The</a:t>
            </a:r>
          </a:p>
        </p:txBody>
      </p:sp>
      <p:sp>
        <p:nvSpPr>
          <p:cNvPr id="40" name="TextBox 39"/>
          <p:cNvSpPr txBox="1"/>
          <p:nvPr/>
        </p:nvSpPr>
        <p:spPr>
          <a:xfrm>
            <a:off x="9116567" y="2132380"/>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Crime · Horror</a:t>
            </a:r>
          </a:p>
        </p:txBody>
      </p:sp>
      <p:sp>
        <p:nvSpPr>
          <p:cNvPr id="41" name="TextBox 40"/>
          <p:cNvSpPr txBox="1"/>
          <p:nvPr/>
        </p:nvSpPr>
        <p:spPr>
          <a:xfrm>
            <a:off x="10707624" y="2132380"/>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3</a:t>
            </a:r>
          </a:p>
        </p:txBody>
      </p:sp>
      <p:cxnSp>
        <p:nvCxnSpPr>
          <p:cNvPr id="42" name="Connector 41"/>
          <p:cNvCxnSpPr/>
          <p:nvPr/>
        </p:nvCxnSpPr>
        <p:spPr>
          <a:xfrm>
            <a:off x="5989320" y="2424988"/>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5989320" y="2517495"/>
            <a:ext cx="137160" cy="13716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2490825"/>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Star Wars: Episode IV - A New Hope</a:t>
            </a:r>
          </a:p>
        </p:txBody>
      </p:sp>
      <p:sp>
        <p:nvSpPr>
          <p:cNvPr id="45" name="TextBox 44"/>
          <p:cNvSpPr txBox="1"/>
          <p:nvPr/>
        </p:nvSpPr>
        <p:spPr>
          <a:xfrm>
            <a:off x="9116567" y="2490825"/>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Adventure</a:t>
            </a:r>
          </a:p>
        </p:txBody>
      </p:sp>
      <p:sp>
        <p:nvSpPr>
          <p:cNvPr id="46" name="TextBox 45"/>
          <p:cNvSpPr txBox="1"/>
          <p:nvPr/>
        </p:nvSpPr>
        <p:spPr>
          <a:xfrm>
            <a:off x="10707624" y="2490825"/>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3</a:t>
            </a:r>
          </a:p>
        </p:txBody>
      </p:sp>
      <p:cxnSp>
        <p:nvCxnSpPr>
          <p:cNvPr id="47" name="Connector 46"/>
          <p:cNvCxnSpPr/>
          <p:nvPr/>
        </p:nvCxnSpPr>
        <p:spPr>
          <a:xfrm>
            <a:off x="5989320" y="2783433"/>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989320" y="2875940"/>
            <a:ext cx="137160" cy="13716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63640" y="2849270"/>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Fight Club</a:t>
            </a:r>
          </a:p>
        </p:txBody>
      </p:sp>
      <p:sp>
        <p:nvSpPr>
          <p:cNvPr id="50" name="TextBox 49"/>
          <p:cNvSpPr txBox="1"/>
          <p:nvPr/>
        </p:nvSpPr>
        <p:spPr>
          <a:xfrm>
            <a:off x="9116567" y="2849270"/>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Crime</a:t>
            </a:r>
          </a:p>
        </p:txBody>
      </p:sp>
      <p:sp>
        <p:nvSpPr>
          <p:cNvPr id="51" name="TextBox 50"/>
          <p:cNvSpPr txBox="1"/>
          <p:nvPr/>
        </p:nvSpPr>
        <p:spPr>
          <a:xfrm>
            <a:off x="10707624" y="2849270"/>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1</a:t>
            </a:r>
          </a:p>
        </p:txBody>
      </p:sp>
      <p:cxnSp>
        <p:nvCxnSpPr>
          <p:cNvPr id="52" name="Connector 51"/>
          <p:cNvCxnSpPr/>
          <p:nvPr/>
        </p:nvCxnSpPr>
        <p:spPr>
          <a:xfrm>
            <a:off x="5989320" y="3141878"/>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989320" y="3234385"/>
            <a:ext cx="137160" cy="137160"/>
          </a:xfrm>
          <a:prstGeom prst="rect">
            <a:avLst/>
          </a:prstGeom>
          <a:solidFill>
            <a:srgbClr val="C98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3207715"/>
            <a:ext cx="2834640" cy="3810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Raiders of the Lost Ark (Indiana Jones and the Raiders of the Lost Ark)</a:t>
            </a:r>
          </a:p>
        </p:txBody>
      </p:sp>
      <p:sp>
        <p:nvSpPr>
          <p:cNvPr id="55" name="TextBox 54"/>
          <p:cNvSpPr txBox="1"/>
          <p:nvPr/>
        </p:nvSpPr>
        <p:spPr>
          <a:xfrm>
            <a:off x="9116567" y="3207715"/>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Adventure</a:t>
            </a:r>
          </a:p>
        </p:txBody>
      </p:sp>
      <p:sp>
        <p:nvSpPr>
          <p:cNvPr id="56" name="TextBox 55"/>
          <p:cNvSpPr txBox="1"/>
          <p:nvPr/>
        </p:nvSpPr>
        <p:spPr>
          <a:xfrm>
            <a:off x="10707624" y="3207715"/>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4</a:t>
            </a:r>
          </a:p>
        </p:txBody>
      </p:sp>
      <p:cxnSp>
        <p:nvCxnSpPr>
          <p:cNvPr id="57" name="Connector 56"/>
          <p:cNvCxnSpPr/>
          <p:nvPr/>
        </p:nvCxnSpPr>
        <p:spPr>
          <a:xfrm>
            <a:off x="5989320" y="3690823"/>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989320" y="3783329"/>
            <a:ext cx="137160" cy="137160"/>
          </a:xfrm>
          <a:prstGeom prst="rect">
            <a:avLst/>
          </a:prstGeom>
          <a:solidFill>
            <a:srgbClr val="D95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63640" y="3756659"/>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Schindler's List</a:t>
            </a:r>
          </a:p>
        </p:txBody>
      </p:sp>
      <p:sp>
        <p:nvSpPr>
          <p:cNvPr id="60" name="TextBox 59"/>
          <p:cNvSpPr txBox="1"/>
          <p:nvPr/>
        </p:nvSpPr>
        <p:spPr>
          <a:xfrm>
            <a:off x="9116567" y="3756659"/>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Drama · War</a:t>
            </a:r>
          </a:p>
        </p:txBody>
      </p:sp>
      <p:sp>
        <p:nvSpPr>
          <p:cNvPr id="61" name="TextBox 60"/>
          <p:cNvSpPr txBox="1"/>
          <p:nvPr/>
        </p:nvSpPr>
        <p:spPr>
          <a:xfrm>
            <a:off x="10707624" y="3756659"/>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2</a:t>
            </a:r>
          </a:p>
        </p:txBody>
      </p:sp>
      <p:cxnSp>
        <p:nvCxnSpPr>
          <p:cNvPr id="62" name="Connector 61"/>
          <p:cNvCxnSpPr/>
          <p:nvPr/>
        </p:nvCxnSpPr>
        <p:spPr>
          <a:xfrm>
            <a:off x="5989320" y="4049267"/>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989320" y="4141774"/>
            <a:ext cx="137160" cy="137160"/>
          </a:xfrm>
          <a:prstGeom prst="rect">
            <a:avLst/>
          </a:prstGeom>
          <a:solidFill>
            <a:srgbClr val="D551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4115104"/>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Star Wars: Episode V - The Empire Strikes Back</a:t>
            </a:r>
          </a:p>
        </p:txBody>
      </p:sp>
      <p:sp>
        <p:nvSpPr>
          <p:cNvPr id="65" name="TextBox 64"/>
          <p:cNvSpPr txBox="1"/>
          <p:nvPr/>
        </p:nvSpPr>
        <p:spPr>
          <a:xfrm>
            <a:off x="9116567" y="4115104"/>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Adventure</a:t>
            </a:r>
          </a:p>
        </p:txBody>
      </p:sp>
      <p:sp>
        <p:nvSpPr>
          <p:cNvPr id="66" name="TextBox 65"/>
          <p:cNvSpPr txBox="1"/>
          <p:nvPr/>
        </p:nvSpPr>
        <p:spPr>
          <a:xfrm>
            <a:off x="10707624" y="4115104"/>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5</a:t>
            </a:r>
          </a:p>
        </p:txBody>
      </p:sp>
      <p:cxnSp>
        <p:nvCxnSpPr>
          <p:cNvPr id="67" name="Connector 66"/>
          <p:cNvCxnSpPr/>
          <p:nvPr/>
        </p:nvCxnSpPr>
        <p:spPr>
          <a:xfrm>
            <a:off x="5989320" y="4407712"/>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5989320" y="4500219"/>
            <a:ext cx="137160" cy="137160"/>
          </a:xfrm>
          <a:prstGeom prst="rect">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63640" y="4473549"/>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Terminator 2: Judgment Day</a:t>
            </a:r>
          </a:p>
        </p:txBody>
      </p:sp>
      <p:sp>
        <p:nvSpPr>
          <p:cNvPr id="70" name="TextBox 69"/>
          <p:cNvSpPr txBox="1"/>
          <p:nvPr/>
        </p:nvSpPr>
        <p:spPr>
          <a:xfrm>
            <a:off x="9116567" y="4473549"/>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Sci-Fi</a:t>
            </a:r>
          </a:p>
        </p:txBody>
      </p:sp>
      <p:sp>
        <p:nvSpPr>
          <p:cNvPr id="71" name="TextBox 70"/>
          <p:cNvSpPr txBox="1"/>
          <p:nvPr/>
        </p:nvSpPr>
        <p:spPr>
          <a:xfrm>
            <a:off x="10707624" y="4473549"/>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6</a:t>
            </a:r>
          </a:p>
        </p:txBody>
      </p:sp>
      <p:cxnSp>
        <p:nvCxnSpPr>
          <p:cNvPr id="72" name="Connector 71"/>
          <p:cNvCxnSpPr/>
          <p:nvPr/>
        </p:nvCxnSpPr>
        <p:spPr>
          <a:xfrm>
            <a:off x="5989320" y="4766157"/>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5989320" y="4858664"/>
            <a:ext cx="137160" cy="137160"/>
          </a:xfrm>
          <a:prstGeom prst="rect">
            <a:avLst/>
          </a:prstGeom>
          <a:solidFill>
            <a:srgbClr val="199E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63640" y="4831994"/>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American Beauty</a:t>
            </a:r>
          </a:p>
        </p:txBody>
      </p:sp>
      <p:sp>
        <p:nvSpPr>
          <p:cNvPr id="75" name="TextBox 74"/>
          <p:cNvSpPr txBox="1"/>
          <p:nvPr/>
        </p:nvSpPr>
        <p:spPr>
          <a:xfrm>
            <a:off x="9116567" y="4831994"/>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Drama · Romance</a:t>
            </a:r>
          </a:p>
        </p:txBody>
      </p:sp>
      <p:sp>
        <p:nvSpPr>
          <p:cNvPr id="76" name="TextBox 75"/>
          <p:cNvSpPr txBox="1"/>
          <p:nvPr/>
        </p:nvSpPr>
        <p:spPr>
          <a:xfrm>
            <a:off x="10707624" y="4831994"/>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3</a:t>
            </a:r>
          </a:p>
        </p:txBody>
      </p:sp>
      <p:cxnSp>
        <p:nvCxnSpPr>
          <p:cNvPr id="77" name="Connector 76"/>
          <p:cNvCxnSpPr/>
          <p:nvPr/>
        </p:nvCxnSpPr>
        <p:spPr>
          <a:xfrm>
            <a:off x="5989320" y="5124602"/>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5989320" y="5217109"/>
            <a:ext cx="137160" cy="137160"/>
          </a:xfrm>
          <a:prstGeom prst="rect">
            <a:avLst/>
          </a:prstGeom>
          <a:solidFill>
            <a:srgbClr val="908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63640" y="5190439"/>
            <a:ext cx="2834640" cy="190500"/>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B2B9C6"/>
                </a:solidFill>
                <a:latin typeface="IBM Plex Sans"/>
              </a:rPr>
              <a:t>Star Wars: Episode VI - Return of the Jedi</a:t>
            </a:r>
          </a:p>
        </p:txBody>
      </p:sp>
      <p:sp>
        <p:nvSpPr>
          <p:cNvPr id="80" name="TextBox 79"/>
          <p:cNvSpPr txBox="1"/>
          <p:nvPr/>
        </p:nvSpPr>
        <p:spPr>
          <a:xfrm>
            <a:off x="9116567" y="5190439"/>
            <a:ext cx="1554480" cy="190500"/>
          </a:xfrm>
          <a:prstGeom prst="rect">
            <a:avLst/>
          </a:prstGeom>
          <a:noFill/>
        </p:spPr>
        <p:txBody>
          <a:bodyPr wrap="square" lIns="0" tIns="0" rIns="0" bIns="0" anchor="ctr">
            <a:spAutoFit/>
          </a:bodyPr>
          <a:lstStyle/>
          <a:p>
            <a:pPr algn="l">
              <a:lnSpc>
                <a:spcPct val="125000"/>
              </a:lnSpc>
              <a:spcBef>
                <a:spcPts val="0"/>
              </a:spcBef>
              <a:spcAft>
                <a:spcPts val="0"/>
              </a:spcAft>
            </a:pPr>
            <a:r>
              <a:rPr sz="800" b="0" i="0">
                <a:solidFill>
                  <a:srgbClr val="5D6470"/>
                </a:solidFill>
                <a:latin typeface="IBM Plex Sans"/>
              </a:rPr>
              <a:t>Action · Adventure</a:t>
            </a:r>
          </a:p>
        </p:txBody>
      </p:sp>
      <p:sp>
        <p:nvSpPr>
          <p:cNvPr id="81" name="TextBox 80"/>
          <p:cNvSpPr txBox="1"/>
          <p:nvPr/>
        </p:nvSpPr>
        <p:spPr>
          <a:xfrm>
            <a:off x="10707624" y="5190439"/>
            <a:ext cx="310896" cy="190500"/>
          </a:xfrm>
          <a:prstGeom prst="rect">
            <a:avLst/>
          </a:prstGeom>
          <a:noFill/>
        </p:spPr>
        <p:txBody>
          <a:bodyPr wrap="square" lIns="0" tIns="0" rIns="0" bIns="0" anchor="ctr">
            <a:spAutoFit/>
          </a:bodyPr>
          <a:lstStyle/>
          <a:p>
            <a:pPr algn="r">
              <a:lnSpc>
                <a:spcPct val="125000"/>
              </a:lnSpc>
              <a:spcBef>
                <a:spcPts val="0"/>
              </a:spcBef>
              <a:spcAft>
                <a:spcPts val="0"/>
              </a:spcAft>
            </a:pPr>
            <a:r>
              <a:rPr sz="900" b="0" i="0">
                <a:solidFill>
                  <a:srgbClr val="7B8494"/>
                </a:solidFill>
                <a:latin typeface="IBM Plex Mono"/>
              </a:rPr>
              <a:t>7</a:t>
            </a:r>
          </a:p>
        </p:txBody>
      </p:sp>
      <p:cxnSp>
        <p:nvCxnSpPr>
          <p:cNvPr id="82" name="Connector 81"/>
          <p:cNvCxnSpPr/>
          <p:nvPr/>
        </p:nvCxnSpPr>
        <p:spPr>
          <a:xfrm>
            <a:off x="5989320" y="5483047"/>
            <a:ext cx="5029200"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0890504" y="1536192"/>
            <a:ext cx="45720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1">
                <a:solidFill>
                  <a:srgbClr val="5D6470"/>
                </a:solidFill>
                <a:latin typeface="IBM Plex Serif"/>
              </a:rPr>
              <a:t>colour</a:t>
            </a:r>
          </a:p>
        </p:txBody>
      </p:sp>
      <p:sp>
        <p:nvSpPr>
          <p:cNvPr id="84" name="TextBox 83"/>
          <p:cNvSpPr txBox="1"/>
          <p:nvPr/>
        </p:nvSpPr>
        <p:spPr>
          <a:xfrm>
            <a:off x="777240" y="5504688"/>
            <a:ext cx="4617720" cy="731520"/>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5D6470"/>
                </a:solidFill>
                <a:latin typeface="IBM Plex Sans"/>
              </a:rPr>
              <a:t>Seven is not just what the heuristic happened to find: the seven titles in the clique all share Action, so any proper colouring needs seven, and DSATUR lands exactly on the bound.</a:t>
            </a:r>
          </a:p>
        </p:txBody>
      </p:sp>
      <p:sp>
        <p:nvSpPr>
          <p:cNvPr id="85" name="TextBox 84"/>
          <p:cNvSpPr txBox="1"/>
          <p:nvPr/>
        </p:nvSpPr>
        <p:spPr>
          <a:xfrm>
            <a:off x="5989320" y="5669280"/>
            <a:ext cx="5358384" cy="45720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Sans"/>
              </a:rPr>
              <a:t>Seven colours for ten titles: the constraint is tight enough that a greedy pass cannot do better than the clique demands.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40A"/>
        </a:solidFill>
        <a:effectLst/>
      </p:bgPr>
    </p:bg>
    <p:spTree>
      <p:nvGrpSpPr>
        <p:cNvPr id="1" name=""/>
        <p:cNvGrpSpPr/>
        <p:nvPr/>
      </p:nvGrpSpPr>
      <p:grpSpPr>
        <a:xfrm>
          <a:off x="0" y="0"/>
          <a:ext cx="0" cy="0"/>
          <a:chOff x="0" y="0"/>
          <a:chExt cx="0" cy="0"/>
        </a:xfrm>
      </p:grpSpPr>
      <p:sp>
        <p:nvSpPr>
          <p:cNvPr id="2" name="TextBox 1"/>
          <p:cNvSpPr txBox="1"/>
          <p:nvPr/>
        </p:nvSpPr>
        <p:spPr>
          <a:xfrm>
            <a:off x="777240" y="457200"/>
            <a:ext cx="82296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Conclusion</a:t>
            </a:r>
          </a:p>
        </p:txBody>
      </p:sp>
      <p:sp>
        <p:nvSpPr>
          <p:cNvPr id="3" name="TextBox 2"/>
          <p:cNvSpPr txBox="1"/>
          <p:nvPr/>
        </p:nvSpPr>
        <p:spPr>
          <a:xfrm>
            <a:off x="777240" y="713232"/>
            <a:ext cx="10634472" cy="1463040"/>
          </a:xfrm>
          <a:prstGeom prst="rect">
            <a:avLst/>
          </a:prstGeom>
          <a:noFill/>
        </p:spPr>
        <p:txBody>
          <a:bodyPr wrap="square" lIns="0" tIns="0" rIns="0" bIns="0" anchor="t">
            <a:spAutoFit/>
          </a:bodyPr>
          <a:lstStyle/>
          <a:p>
            <a:pPr algn="l">
              <a:lnSpc>
                <a:spcPct val="125000"/>
              </a:lnSpc>
              <a:spcBef>
                <a:spcPts val="0"/>
              </a:spcBef>
              <a:spcAft>
                <a:spcPts val="0"/>
              </a:spcAft>
            </a:pPr>
            <a:r>
              <a:rPr sz="2900" b="0" i="0">
                <a:solidFill>
                  <a:srgbClr val="E1E3E7"/>
                </a:solidFill>
                <a:latin typeface="IBM Plex Serif"/>
              </a:rPr>
              <a:t>Seven topics, one graph, seven answers</a:t>
            </a:r>
          </a:p>
        </p:txBody>
      </p:sp>
      <p:cxnSp>
        <p:nvCxnSpPr>
          <p:cNvPr id="4" name="Connector 3"/>
          <p:cNvCxnSpPr/>
          <p:nvPr/>
        </p:nvCxnSpPr>
        <p:spPr>
          <a:xfrm>
            <a:off x="777240" y="1463040"/>
            <a:ext cx="10637215"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408615" y="6382512"/>
            <a:ext cx="1005840" cy="18288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5D6470"/>
                </a:solidFill>
                <a:latin typeface="IBM Plex Mono"/>
              </a:rPr>
              <a:t>14 / 14</a:t>
            </a:r>
          </a:p>
        </p:txBody>
      </p:sp>
      <p:sp>
        <p:nvSpPr>
          <p:cNvPr id="7" name="TextBox 6"/>
          <p:cNvSpPr txBox="1"/>
          <p:nvPr/>
        </p:nvSpPr>
        <p:spPr>
          <a:xfrm>
            <a:off x="777240" y="1572768"/>
            <a:ext cx="5486400" cy="182880"/>
          </a:xfrm>
          <a:prstGeom prst="rect">
            <a:avLst/>
          </a:prstGeom>
          <a:noFill/>
        </p:spPr>
        <p:txBody>
          <a:bodyPr wrap="square" lIns="0" tIns="0" rIns="0" bIns="0" anchor="t">
            <a:spAutoFit/>
          </a:bodyPr>
          <a:lstStyle/>
          <a:p>
            <a:pPr algn="l">
              <a:lnSpc>
                <a:spcPct val="125000"/>
              </a:lnSpc>
              <a:spcBef>
                <a:spcPts val="0"/>
              </a:spcBef>
              <a:spcAft>
                <a:spcPts val="0"/>
              </a:spcAft>
            </a:pPr>
            <a:r>
              <a:rPr sz="1000" b="0" i="1">
                <a:solidFill>
                  <a:srgbClr val="7B8494"/>
                </a:solidFill>
                <a:latin typeface="IBM Plex Serif"/>
              </a:rPr>
              <a:t>Topic  ·  what it answered  ·  the number</a:t>
            </a:r>
          </a:p>
        </p:txBody>
      </p:sp>
      <p:sp>
        <p:nvSpPr>
          <p:cNvPr id="8" name="TextBox 7"/>
          <p:cNvSpPr txBox="1"/>
          <p:nvPr/>
        </p:nvSpPr>
        <p:spPr>
          <a:xfrm>
            <a:off x="777240" y="1828800"/>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Degree</a:t>
            </a:r>
          </a:p>
        </p:txBody>
      </p:sp>
      <p:sp>
        <p:nvSpPr>
          <p:cNvPr id="9" name="TextBox 8"/>
          <p:cNvSpPr txBox="1"/>
          <p:nvPr/>
        </p:nvSpPr>
        <p:spPr>
          <a:xfrm>
            <a:off x="2697480" y="1837943"/>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audience size and similarity degree, kept apart</a:t>
            </a:r>
          </a:p>
        </p:txBody>
      </p:sp>
      <p:sp>
        <p:nvSpPr>
          <p:cNvPr id="10" name="TextBox 9"/>
          <p:cNvSpPr txBox="1"/>
          <p:nvPr/>
        </p:nvSpPr>
        <p:spPr>
          <a:xfrm>
            <a:off x="7680960" y="1828800"/>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11.83 mean</a:t>
            </a:r>
          </a:p>
        </p:txBody>
      </p:sp>
      <p:cxnSp>
        <p:nvCxnSpPr>
          <p:cNvPr id="11" name="Connector 10"/>
          <p:cNvCxnSpPr/>
          <p:nvPr/>
        </p:nvCxnSpPr>
        <p:spPr>
          <a:xfrm>
            <a:off x="777240" y="2157984"/>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2231136"/>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Connectivity</a:t>
            </a:r>
          </a:p>
        </p:txBody>
      </p:sp>
      <p:sp>
        <p:nvSpPr>
          <p:cNvPr id="13" name="TextBox 12"/>
          <p:cNvSpPr txBox="1"/>
          <p:nvPr/>
        </p:nvSpPr>
        <p:spPr>
          <a:xfrm>
            <a:off x="2697480" y="2240279"/>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one component, no bridge, diameter 7</a:t>
            </a:r>
          </a:p>
        </p:txBody>
      </p:sp>
      <p:sp>
        <p:nvSpPr>
          <p:cNvPr id="14" name="TextBox 13"/>
          <p:cNvSpPr txBox="1"/>
          <p:nvPr/>
        </p:nvSpPr>
        <p:spPr>
          <a:xfrm>
            <a:off x="7680960" y="2231136"/>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1,437 reached</a:t>
            </a:r>
          </a:p>
        </p:txBody>
      </p:sp>
      <p:cxnSp>
        <p:nvCxnSpPr>
          <p:cNvPr id="15" name="Connector 14"/>
          <p:cNvCxnSpPr/>
          <p:nvPr/>
        </p:nvCxnSpPr>
        <p:spPr>
          <a:xfrm>
            <a:off x="777240" y="2560320"/>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2633472"/>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Path</a:t>
            </a:r>
          </a:p>
        </p:txBody>
      </p:sp>
      <p:sp>
        <p:nvSpPr>
          <p:cNvPr id="17" name="TextBox 16"/>
          <p:cNvSpPr txBox="1"/>
          <p:nvPr/>
        </p:nvSpPr>
        <p:spPr>
          <a:xfrm>
            <a:off x="2697480" y="2642615"/>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three-hop witness paths as support</a:t>
            </a:r>
          </a:p>
        </p:txBody>
      </p:sp>
      <p:sp>
        <p:nvSpPr>
          <p:cNvPr id="18" name="TextBox 17"/>
          <p:cNvSpPr txBox="1"/>
          <p:nvPr/>
        </p:nvSpPr>
        <p:spPr>
          <a:xfrm>
            <a:off x="7680960" y="2633472"/>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1,416 candidates</a:t>
            </a:r>
          </a:p>
        </p:txBody>
      </p:sp>
      <p:cxnSp>
        <p:nvCxnSpPr>
          <p:cNvPr id="19" name="Connector 18"/>
          <p:cNvCxnSpPr/>
          <p:nvPr/>
        </p:nvCxnSpPr>
        <p:spPr>
          <a:xfrm>
            <a:off x="777240" y="2962656"/>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3035808"/>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Cycle</a:t>
            </a:r>
          </a:p>
        </p:txBody>
      </p:sp>
      <p:sp>
        <p:nvSpPr>
          <p:cNvPr id="21" name="TextBox 20"/>
          <p:cNvSpPr txBox="1"/>
          <p:nvPr/>
        </p:nvSpPr>
        <p:spPr>
          <a:xfrm>
            <a:off x="2697480" y="3044952"/>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4-cycles and echo, divided back out</a:t>
            </a:r>
          </a:p>
        </p:txBody>
      </p:sp>
      <p:sp>
        <p:nvSpPr>
          <p:cNvPr id="22" name="TextBox 21"/>
          <p:cNvSpPr txBox="1"/>
          <p:nvPr/>
        </p:nvSpPr>
        <p:spPr>
          <a:xfrm>
            <a:off x="7680960" y="3035808"/>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C 0.168 · 5,487 tri</a:t>
            </a:r>
          </a:p>
        </p:txBody>
      </p:sp>
      <p:cxnSp>
        <p:nvCxnSpPr>
          <p:cNvPr id="23" name="Connector 22"/>
          <p:cNvCxnSpPr/>
          <p:nvPr/>
        </p:nvCxnSpPr>
        <p:spPr>
          <a:xfrm>
            <a:off x="777240" y="3364992"/>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3438144"/>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Eulerian</a:t>
            </a:r>
          </a:p>
        </p:txBody>
      </p:sp>
      <p:sp>
        <p:nvSpPr>
          <p:cNvPr id="25" name="TextBox 24"/>
          <p:cNvSpPr txBox="1"/>
          <p:nvPr/>
        </p:nvSpPr>
        <p:spPr>
          <a:xfrm>
            <a:off x="2697480" y="3447287"/>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10 odd vertices, 5 pairs, 9 edges added</a:t>
            </a:r>
          </a:p>
        </p:txBody>
      </p:sp>
      <p:sp>
        <p:nvSpPr>
          <p:cNvPr id="26" name="TextBox 25"/>
          <p:cNvSpPr txBox="1"/>
          <p:nvPr/>
        </p:nvSpPr>
        <p:spPr>
          <a:xfrm>
            <a:off x="7680960" y="3438144"/>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1,221 traversals</a:t>
            </a:r>
          </a:p>
        </p:txBody>
      </p:sp>
      <p:cxnSp>
        <p:nvCxnSpPr>
          <p:cNvPr id="27" name="Connector 26"/>
          <p:cNvCxnSpPr/>
          <p:nvPr/>
        </p:nvCxnSpPr>
        <p:spPr>
          <a:xfrm>
            <a:off x="777240" y="3767328"/>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3840480"/>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Hamiltonian</a:t>
            </a:r>
          </a:p>
        </p:txBody>
      </p:sp>
      <p:sp>
        <p:nvSpPr>
          <p:cNvPr id="29" name="TextBox 28"/>
          <p:cNvSpPr txBox="1"/>
          <p:nvPr/>
        </p:nvSpPr>
        <p:spPr>
          <a:xfrm>
            <a:off x="2697480" y="3849624"/>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exact max-weight order by Held–Karp</a:t>
            </a:r>
          </a:p>
        </p:txBody>
      </p:sp>
      <p:sp>
        <p:nvSpPr>
          <p:cNvPr id="30" name="TextBox 29"/>
          <p:cNvSpPr txBox="1"/>
          <p:nvPr/>
        </p:nvSpPr>
        <p:spPr>
          <a:xfrm>
            <a:off x="7680960" y="3840480"/>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4.212 vs 4.086</a:t>
            </a:r>
          </a:p>
        </p:txBody>
      </p:sp>
      <p:cxnSp>
        <p:nvCxnSpPr>
          <p:cNvPr id="31" name="Connector 30"/>
          <p:cNvCxnSpPr/>
          <p:nvPr/>
        </p:nvCxnSpPr>
        <p:spPr>
          <a:xfrm>
            <a:off x="777240" y="4169664"/>
            <a:ext cx="8641079" cy="0"/>
          </a:xfrm>
          <a:prstGeom prst="line">
            <a:avLst/>
          </a:prstGeom>
          <a:ln w="9525">
            <a:solidFill>
              <a:srgbClr val="171A1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77240" y="4242816"/>
            <a:ext cx="1828800" cy="219456"/>
          </a:xfrm>
          <a:prstGeom prst="rect">
            <a:avLst/>
          </a:prstGeom>
          <a:noFill/>
        </p:spPr>
        <p:txBody>
          <a:bodyPr wrap="square" lIns="0" tIns="0" rIns="0" bIns="0" anchor="t">
            <a:spAutoFit/>
          </a:bodyPr>
          <a:lstStyle/>
          <a:p>
            <a:pPr algn="l">
              <a:lnSpc>
                <a:spcPct val="125000"/>
              </a:lnSpc>
              <a:spcBef>
                <a:spcPts val="0"/>
              </a:spcBef>
              <a:spcAft>
                <a:spcPts val="0"/>
              </a:spcAft>
            </a:pPr>
            <a:r>
              <a:rPr sz="1100" b="0" i="0">
                <a:solidFill>
                  <a:srgbClr val="E1E3E7"/>
                </a:solidFill>
                <a:latin typeface="IBM Plex Sans"/>
              </a:rPr>
              <a:t>Planar + colouring</a:t>
            </a:r>
          </a:p>
        </p:txBody>
      </p:sp>
      <p:sp>
        <p:nvSpPr>
          <p:cNvPr id="33" name="TextBox 32"/>
          <p:cNvSpPr txBox="1"/>
          <p:nvPr/>
        </p:nvSpPr>
        <p:spPr>
          <a:xfrm>
            <a:off x="2697480" y="4251960"/>
            <a:ext cx="4754880" cy="219456"/>
          </a:xfrm>
          <a:prstGeom prst="rect">
            <a:avLst/>
          </a:prstGeom>
          <a:noFill/>
        </p:spPr>
        <p:txBody>
          <a:bodyPr wrap="square" lIns="0" tIns="0" rIns="0" bIns="0" anchor="t">
            <a:spAutoFit/>
          </a:bodyPr>
          <a:lstStyle/>
          <a:p>
            <a:pPr algn="l">
              <a:lnSpc>
                <a:spcPct val="125000"/>
              </a:lnSpc>
              <a:spcBef>
                <a:spcPts val="0"/>
              </a:spcBef>
              <a:spcAft>
                <a:spcPts val="0"/>
              </a:spcAft>
            </a:pPr>
            <a:r>
              <a:rPr sz="1000" b="0" i="0">
                <a:solidFill>
                  <a:srgbClr val="7B8494"/>
                </a:solidFill>
                <a:latin typeface="IBM Plex Sans"/>
              </a:rPr>
              <a:t>K₅ blocks it; 4 colours after pruning</a:t>
            </a:r>
          </a:p>
        </p:txBody>
      </p:sp>
      <p:sp>
        <p:nvSpPr>
          <p:cNvPr id="34" name="TextBox 33"/>
          <p:cNvSpPr txBox="1"/>
          <p:nvPr/>
        </p:nvSpPr>
        <p:spPr>
          <a:xfrm>
            <a:off x="7680960" y="4242816"/>
            <a:ext cx="1737360" cy="219456"/>
          </a:xfrm>
          <a:prstGeom prst="rect">
            <a:avLst/>
          </a:prstGeom>
          <a:noFill/>
        </p:spPr>
        <p:txBody>
          <a:bodyPr wrap="square" lIns="0" tIns="0" rIns="0" bIns="0" anchor="t">
            <a:spAutoFit/>
          </a:bodyPr>
          <a:lstStyle/>
          <a:p>
            <a:pPr algn="l">
              <a:lnSpc>
                <a:spcPct val="125000"/>
              </a:lnSpc>
              <a:spcBef>
                <a:spcPts val="0"/>
              </a:spcBef>
              <a:spcAft>
                <a:spcPts val="0"/>
              </a:spcAft>
            </a:pPr>
            <a:r>
              <a:rPr sz="950" b="0" i="0">
                <a:solidFill>
                  <a:srgbClr val="4D92FF"/>
                </a:solidFill>
                <a:latin typeface="IBM Plex Mono"/>
              </a:rPr>
              <a:t>χ = 4, tight</a:t>
            </a:r>
          </a:p>
        </p:txBody>
      </p:sp>
      <p:cxnSp>
        <p:nvCxnSpPr>
          <p:cNvPr id="35" name="Connector 34"/>
          <p:cNvCxnSpPr/>
          <p:nvPr/>
        </p:nvCxnSpPr>
        <p:spPr>
          <a:xfrm>
            <a:off x="777240" y="4572000"/>
            <a:ext cx="8641079"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46920" y="1572768"/>
            <a:ext cx="1783080" cy="182880"/>
          </a:xfrm>
          <a:prstGeom prst="rect">
            <a:avLst/>
          </a:prstGeom>
          <a:noFill/>
        </p:spPr>
        <p:txBody>
          <a:bodyPr wrap="square" lIns="0" tIns="0" rIns="0" bIns="0" anchor="t">
            <a:spAutoFit/>
          </a:bodyPr>
          <a:lstStyle/>
          <a:p>
            <a:pPr algn="l">
              <a:lnSpc>
                <a:spcPct val="125000"/>
              </a:lnSpc>
              <a:spcBef>
                <a:spcPts val="0"/>
              </a:spcBef>
              <a:spcAft>
                <a:spcPts val="0"/>
              </a:spcAft>
            </a:pPr>
            <a:r>
              <a:rPr sz="1100" b="0" i="1">
                <a:solidFill>
                  <a:srgbClr val="7B8494"/>
                </a:solidFill>
                <a:latin typeface="IBM Plex Serif"/>
              </a:rPr>
              <a:t>Limits</a:t>
            </a:r>
          </a:p>
        </p:txBody>
      </p:sp>
      <p:sp>
        <p:nvSpPr>
          <p:cNvPr id="37" name="TextBox 36"/>
          <p:cNvSpPr txBox="1"/>
          <p:nvPr/>
        </p:nvSpPr>
        <p:spPr>
          <a:xfrm>
            <a:off x="9646920" y="1865376"/>
            <a:ext cx="1783080" cy="3108960"/>
          </a:xfrm>
          <a:prstGeom prst="rect">
            <a:avLst/>
          </a:prstGeom>
          <a:noFill/>
        </p:spPr>
        <p:txBody>
          <a:bodyPr wrap="square" lIns="0" tIns="0" rIns="0" bIns="0" anchor="t">
            <a:spAutoFit/>
          </a:bodyPr>
          <a:lstStyle/>
          <a:p>
            <a:pPr algn="l">
              <a:lnSpc>
                <a:spcPct val="125000"/>
              </a:lnSpc>
              <a:spcBef>
                <a:spcPts val="0"/>
              </a:spcBef>
              <a:spcAft>
                <a:spcPts val="0"/>
              </a:spcAft>
            </a:pPr>
            <a:r>
              <a:rPr sz="900" b="0" i="0">
                <a:solidFill>
                  <a:srgbClr val="B2B9C6"/>
                </a:solidFill>
                <a:latin typeface="IBM Plex Sans"/>
              </a:rPr>
              <a:t>585 viewers is a sample, not a platform.</a:t>
            </a:r>
          </a:p>
          <a:p>
            <a:pPr algn="l">
              <a:lnSpc>
                <a:spcPct val="125000"/>
              </a:lnSpc>
              <a:spcBef>
                <a:spcPts val="900"/>
              </a:spcBef>
              <a:spcAft>
                <a:spcPts val="0"/>
              </a:spcAft>
            </a:pPr>
            <a:r>
              <a:rPr sz="900" b="0" i="0">
                <a:solidFill>
                  <a:srgbClr val="B2B9C6"/>
                </a:solidFill>
                <a:latin typeface="IBM Plex Sans"/>
              </a:rPr>
              <a:t>Recommendations search three hops out; 345 titles sit beyond that.</a:t>
            </a:r>
          </a:p>
          <a:p>
            <a:pPr algn="l">
              <a:lnSpc>
                <a:spcPct val="125000"/>
              </a:lnSpc>
              <a:spcBef>
                <a:spcPts val="900"/>
              </a:spcBef>
              <a:spcAft>
                <a:spcPts val="0"/>
              </a:spcAft>
            </a:pPr>
            <a:r>
              <a:rPr sz="900" b="0" i="0">
                <a:solidFill>
                  <a:srgbClr val="B2B9C6"/>
                </a:solidFill>
                <a:latin typeface="IBM Plex Sans"/>
              </a:rPr>
              <a:t>The archive ends in 2018. Recent releases are carried separately, without audience figures.</a:t>
            </a:r>
          </a:p>
        </p:txBody>
      </p:sp>
      <p:sp>
        <p:nvSpPr>
          <p:cNvPr id="38" name="TextBox 37"/>
          <p:cNvSpPr txBox="1"/>
          <p:nvPr/>
        </p:nvSpPr>
        <p:spPr>
          <a:xfrm>
            <a:off x="777240" y="4901184"/>
            <a:ext cx="8595360" cy="822960"/>
          </a:xfrm>
          <a:prstGeom prst="rect">
            <a:avLst/>
          </a:prstGeom>
          <a:noFill/>
        </p:spPr>
        <p:txBody>
          <a:bodyPr wrap="square" lIns="0" tIns="0" rIns="0" bIns="0" anchor="t">
            <a:spAutoFit/>
          </a:bodyPr>
          <a:lstStyle/>
          <a:p>
            <a:pPr algn="l">
              <a:lnSpc>
                <a:spcPct val="125000"/>
              </a:lnSpc>
              <a:spcBef>
                <a:spcPts val="0"/>
              </a:spcBef>
              <a:spcAft>
                <a:spcPts val="0"/>
              </a:spcAft>
            </a:pPr>
            <a:r>
              <a:rPr sz="1300" b="0" i="0">
                <a:solidFill>
                  <a:srgbClr val="E1E3E7"/>
                </a:solidFill>
                <a:latin typeface="IBM Plex Serif"/>
              </a:rPr>
              <a:t>Nothing here is illustrated. Every number on these slides is computed from 100,836 ratings and printed in the app, next to the paths that produced it.</a:t>
            </a:r>
          </a:p>
        </p:txBody>
      </p:sp>
      <p:cxnSp>
        <p:nvCxnSpPr>
          <p:cNvPr id="39" name="Connector 38"/>
          <p:cNvCxnSpPr/>
          <p:nvPr/>
        </p:nvCxnSpPr>
        <p:spPr>
          <a:xfrm>
            <a:off x="777240" y="5742432"/>
            <a:ext cx="8641079" cy="0"/>
          </a:xfrm>
          <a:prstGeom prst="line">
            <a:avLst/>
          </a:prstGeom>
          <a:ln w="9525">
            <a:solidFill>
              <a:srgbClr val="23272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77240" y="5870448"/>
            <a:ext cx="8641080" cy="274320"/>
          </a:xfrm>
          <a:prstGeom prst="rect">
            <a:avLst/>
          </a:prstGeom>
          <a:noFill/>
        </p:spPr>
        <p:txBody>
          <a:bodyPr wrap="square" lIns="0" tIns="0" rIns="0" bIns="0" anchor="t">
            <a:spAutoFit/>
          </a:bodyPr>
          <a:lstStyle/>
          <a:p>
            <a:pPr algn="l">
              <a:lnSpc>
                <a:spcPct val="125000"/>
              </a:lnSpc>
              <a:spcBef>
                <a:spcPts val="0"/>
              </a:spcBef>
              <a:spcAft>
                <a:spcPts val="0"/>
              </a:spcAft>
            </a:pPr>
            <a:r>
              <a:rPr sz="850" b="0" i="0">
                <a:solidFill>
                  <a:srgbClr val="5D6470"/>
                </a:solidFill>
                <a:latin typeface="IBM Plex Mono"/>
              </a:rPr>
              <a:t>C039  degree, connectivity      C043  path, cycle      C044  Eulerian, Hamiltonian      C046  planar, colouring</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Application>DeckCraft</Application>
  <Slides>14</Slides>
  <Notes>14</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description>generated using python-pptx</dc:description>
  <cp:lastModifiedBy>Steve Canny</cp:lastModifiedBy>
  <cp:revision>1</cp:revision>
  <dcterms:created xsi:type="dcterms:W3CDTF">2013-01-27T09:14:16Z</dcterms:created>
  <dcterms:modified xsi:type="dcterms:W3CDTF">2013-01-27T09:15:58Z</dcterms:modified>
</cp:coreProperties>
</file>